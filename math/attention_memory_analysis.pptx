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ark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9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17"/>
          <p:cNvSpPr txBox="1"/>
          <p:nvPr/>
        </p:nvSpPr>
        <p:spPr>
          <a:xfrm>
            <a:off x="8583930" y="2484755"/>
            <a:ext cx="18484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maxBakcward</a:t>
            </a:r>
            <a:endParaRPr lang="en-US" sz="1000"/>
          </a:p>
        </p:txBody>
      </p:sp>
      <p:sp>
        <p:nvSpPr>
          <p:cNvPr id="32" name="Text Box 31"/>
          <p:cNvSpPr txBox="1"/>
          <p:nvPr/>
        </p:nvSpPr>
        <p:spPr>
          <a:xfrm>
            <a:off x="134620" y="2229485"/>
            <a:ext cx="3043555" cy="31381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sz="1200"/>
              <a:t>S=QK^T</a:t>
            </a:r>
            <a:endParaRPr lang="en-US" sz="1200"/>
          </a:p>
          <a:p>
            <a:pPr algn="l" fontAlgn="auto">
              <a:lnSpc>
                <a:spcPct val="150000"/>
              </a:lnSpc>
            </a:pPr>
            <a:r>
              <a:rPr lang="en-US" sz="1200">
                <a:solidFill>
                  <a:schemeClr val="tx1"/>
                </a:solidFill>
              </a:rPr>
              <a:t>scaledS</a:t>
            </a:r>
            <a:r>
              <a:rPr lang="en-US" sz="1200">
                <a:solidFill>
                  <a:schemeClr val="tx1"/>
                </a:solidFill>
              </a:rPr>
              <a:t>=S/scal</a:t>
            </a:r>
            <a:r>
              <a:rPr lang="en-US" sz="1200"/>
              <a:t>e</a:t>
            </a:r>
            <a:endParaRPr lang="en-US" sz="1200"/>
          </a:p>
          <a:p>
            <a:pPr algn="l" fontAlgn="auto">
              <a:lnSpc>
                <a:spcPct val="150000"/>
              </a:lnSpc>
            </a:pPr>
            <a:r>
              <a:rPr lang="en-US" sz="1200"/>
              <a:t>mask=torch.where(attn_mask, 0.0, float('-inf'))</a:t>
            </a:r>
            <a:endParaRPr lang="en-US" sz="1200"/>
          </a:p>
          <a:p>
            <a:pPr algn="l" fontAlgn="auto">
              <a:lnSpc>
                <a:spcPct val="150000"/>
              </a:lnSpc>
            </a:pPr>
            <a:r>
              <a:rPr lang="en-US" sz="1200">
                <a:sym typeface="+mn-ea"/>
              </a:rPr>
              <a:t>maskedS=scaledS+mask</a:t>
            </a:r>
            <a:endParaRPr lang="en-US" sz="1200"/>
          </a:p>
          <a:p>
            <a:pPr algn="l" fontAlgn="auto">
              <a:lnSpc>
                <a:spcPct val="150000"/>
              </a:lnSpc>
            </a:pPr>
            <a:r>
              <a:rPr lang="en-US" sz="1200" b="1">
                <a:solidFill>
                  <a:schemeClr val="accent1"/>
                </a:solidFill>
              </a:rPr>
              <a:t>call softmax(maskedS):</a:t>
            </a:r>
            <a:endParaRPr lang="en-US" sz="1200" b="1">
              <a:solidFill>
                <a:schemeClr val="accent1"/>
              </a:solidFill>
            </a:endParaRPr>
          </a:p>
          <a:p>
            <a:pPr algn="l" fontAlgn="auto">
              <a:lnSpc>
                <a:spcPct val="150000"/>
              </a:lnSpc>
            </a:pPr>
            <a:r>
              <a:rPr lang="en-US" sz="1200"/>
              <a:t>    stableS=maskedS-max(maskedS)</a:t>
            </a:r>
            <a:endParaRPr lang="en-US" sz="1200"/>
          </a:p>
          <a:p>
            <a:pPr algn="l" fontAlgn="auto">
              <a:lnSpc>
                <a:spcPct val="150000"/>
              </a:lnSpc>
            </a:pPr>
            <a:r>
              <a:rPr lang="en-US" sz="1200"/>
              <a:t>    expS=exp(stableS)</a:t>
            </a:r>
            <a:endParaRPr lang="en-US" sz="1200"/>
          </a:p>
          <a:p>
            <a:pPr algn="l" fontAlgn="auto">
              <a:lnSpc>
                <a:spcPct val="150000"/>
              </a:lnSpc>
            </a:pPr>
            <a:r>
              <a:rPr lang="en-US" sz="1200"/>
              <a:t>    </a:t>
            </a:r>
            <a:r>
              <a:rPr lang="en-US" sz="1200">
                <a:solidFill>
                  <a:srgbClr val="FF0000"/>
                </a:solidFill>
              </a:rPr>
              <a:t>sum_expS=sum(expS)</a:t>
            </a:r>
            <a:endParaRPr lang="en-US" sz="1200">
              <a:solidFill>
                <a:srgbClr val="FF0000"/>
              </a:solidFill>
            </a:endParaRPr>
          </a:p>
          <a:p>
            <a:pPr algn="l" fontAlgn="auto">
              <a:lnSpc>
                <a:spcPct val="150000"/>
              </a:lnSpc>
            </a:pPr>
            <a:r>
              <a:rPr lang="en-US" sz="1200">
                <a:solidFill>
                  <a:srgbClr val="FF0000"/>
                </a:solidFill>
              </a:rPr>
              <a:t>    P=expS/sum_expS</a:t>
            </a:r>
            <a:endParaRPr lang="en-US" sz="1200"/>
          </a:p>
          <a:p>
            <a:pPr algn="l" fontAlgn="auto">
              <a:lnSpc>
                <a:spcPct val="150000"/>
              </a:lnSpc>
            </a:pPr>
            <a:r>
              <a:rPr lang="en-US" sz="1200" b="1">
                <a:solidFill>
                  <a:schemeClr val="accent1"/>
                </a:solidFill>
                <a:sym typeface="+mn-ea"/>
              </a:rPr>
              <a:t>softmax output</a:t>
            </a:r>
            <a:endParaRPr lang="en-US" sz="1200"/>
          </a:p>
          <a:p>
            <a:pPr algn="l" fontAlgn="auto">
              <a:lnSpc>
                <a:spcPct val="150000"/>
              </a:lnSpc>
            </a:pPr>
            <a:r>
              <a:rPr lang="en-US" sz="1200"/>
              <a:t>A=PV</a:t>
            </a:r>
            <a:endParaRPr lang="en-US" sz="1200"/>
          </a:p>
        </p:txBody>
      </p:sp>
      <p:grpSp>
        <p:nvGrpSpPr>
          <p:cNvPr id="50" name="Group 49"/>
          <p:cNvGrpSpPr/>
          <p:nvPr/>
        </p:nvGrpSpPr>
        <p:grpSpPr>
          <a:xfrm>
            <a:off x="2947035" y="1318260"/>
            <a:ext cx="8977630" cy="4578350"/>
            <a:chOff x="1519" y="1043"/>
            <a:chExt cx="14138" cy="721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96" y="1462"/>
              <a:ext cx="7699" cy="6791"/>
            </a:xfrm>
            <a:prstGeom prst="rect">
              <a:avLst/>
            </a:prstGeom>
          </p:spPr>
        </p:pic>
        <p:sp>
          <p:nvSpPr>
            <p:cNvPr id="6" name="Text Box 5"/>
            <p:cNvSpPr txBox="1"/>
            <p:nvPr/>
          </p:nvSpPr>
          <p:spPr>
            <a:xfrm>
              <a:off x="10699" y="1347"/>
              <a:ext cx="3639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 b="1">
                  <a:solidFill>
                    <a:srgbClr val="FF0000"/>
                  </a:solidFill>
                </a:rPr>
                <a:t>P=expS/sum(expS)</a:t>
              </a:r>
              <a:r>
                <a:rPr lang="zh-CN" altLang="en-US" sz="1000" b="1">
                  <a:solidFill>
                    <a:srgbClr val="FF0000"/>
                  </a:solidFill>
                </a:rPr>
                <a:t>对应</a:t>
              </a:r>
              <a:r>
                <a:rPr lang="en-US" altLang="zh-CN" sz="1000" b="1">
                  <a:solidFill>
                    <a:srgbClr val="FF0000"/>
                  </a:solidFill>
                </a:rPr>
                <a:t>divBackward</a:t>
              </a:r>
              <a:r>
                <a:rPr lang="zh-CN" altLang="en-US" sz="1000" b="1">
                  <a:solidFill>
                    <a:srgbClr val="FF0000"/>
                  </a:solidFill>
                  <a:sym typeface="+mn-ea"/>
                </a:rPr>
                <a:t>计算出</a:t>
              </a:r>
              <a:r>
                <a:rPr lang="en-US" altLang="zh-CN" sz="1000" b="1">
                  <a:solidFill>
                    <a:srgbClr val="FF0000"/>
                  </a:solidFill>
                  <a:sym typeface="+mn-ea"/>
                </a:rPr>
                <a:t>dexpS</a:t>
              </a:r>
              <a:r>
                <a:rPr lang="zh-CN" altLang="en-US" sz="1000" b="1">
                  <a:solidFill>
                    <a:srgbClr val="FF0000"/>
                  </a:solidFill>
                  <a:sym typeface="+mn-ea"/>
                </a:rPr>
                <a:t>。</a:t>
              </a:r>
              <a:r>
                <a:rPr lang="zh-CN" altLang="en-US" sz="1000" b="1">
                  <a:solidFill>
                    <a:srgbClr val="FF0000"/>
                  </a:solidFill>
                </a:rPr>
                <a:t>这部分先后分配了</a:t>
              </a:r>
              <a:r>
                <a:rPr lang="en-US" altLang="zh-CN" sz="1000" b="1">
                  <a:solidFill>
                    <a:srgbClr val="FF0000"/>
                  </a:solidFill>
                </a:rPr>
                <a:t>5</a:t>
              </a:r>
              <a:r>
                <a:rPr lang="zh-CN" altLang="en-US" sz="1000" b="1">
                  <a:solidFill>
                    <a:srgbClr val="FF0000"/>
                  </a:solidFill>
                </a:rPr>
                <a:t>次大空间，</a:t>
              </a:r>
              <a:r>
                <a:rPr lang="zh-CN" altLang="en-US" sz="1000" b="1">
                  <a:solidFill>
                    <a:srgbClr val="FF0000"/>
                  </a:solidFill>
                  <a:sym typeface="+mn-ea"/>
                </a:rPr>
                <a:t>导致了</a:t>
              </a:r>
              <a:r>
                <a:rPr lang="en-US" altLang="zh-CN" sz="1000" b="1">
                  <a:solidFill>
                    <a:srgbClr val="FF0000"/>
                  </a:solidFill>
                  <a:sym typeface="+mn-ea"/>
                </a:rPr>
                <a:t>memory</a:t>
              </a:r>
              <a:r>
                <a:rPr lang="zh-CN" altLang="en-US" sz="1000" b="1">
                  <a:solidFill>
                    <a:srgbClr val="FF0000"/>
                  </a:solidFill>
                  <a:sym typeface="+mn-ea"/>
                </a:rPr>
                <a:t>瓶颈。</a:t>
              </a:r>
              <a:endParaRPr lang="zh-CN" altLang="en-US" sz="1000" b="1">
                <a:solidFill>
                  <a:srgbClr val="FF0000"/>
                </a:solidFill>
                <a:sym typeface="+mn-ea"/>
              </a:endParaRPr>
            </a:p>
          </p:txBody>
        </p:sp>
        <p:cxnSp>
          <p:nvCxnSpPr>
            <p:cNvPr id="7" name="Straight Arrow Connector 6"/>
            <p:cNvCxnSpPr>
              <a:endCxn id="46" idx="89"/>
            </p:cNvCxnSpPr>
            <p:nvPr/>
          </p:nvCxnSpPr>
          <p:spPr>
            <a:xfrm flipH="1">
              <a:off x="9833" y="2032"/>
              <a:ext cx="1053" cy="128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964" y="4427"/>
              <a:ext cx="3735" cy="3151"/>
            </a:xfrm>
            <a:custGeom>
              <a:avLst/>
              <a:gdLst>
                <a:gd name="connisteX0" fmla="*/ 5715 w 2371795"/>
                <a:gd name="connsiteY0" fmla="*/ 6773 h 2000602"/>
                <a:gd name="connisteX1" fmla="*/ 70485 w 2371795"/>
                <a:gd name="connsiteY1" fmla="*/ 6773 h 2000602"/>
                <a:gd name="connisteX2" fmla="*/ 141605 w 2371795"/>
                <a:gd name="connsiteY2" fmla="*/ 6773 h 2000602"/>
                <a:gd name="connisteX3" fmla="*/ 206375 w 2371795"/>
                <a:gd name="connsiteY3" fmla="*/ 6773 h 2000602"/>
                <a:gd name="connisteX4" fmla="*/ 271145 w 2371795"/>
                <a:gd name="connsiteY4" fmla="*/ 30903 h 2000602"/>
                <a:gd name="connisteX5" fmla="*/ 347980 w 2371795"/>
                <a:gd name="connsiteY5" fmla="*/ 48048 h 2000602"/>
                <a:gd name="connisteX6" fmla="*/ 412750 w 2371795"/>
                <a:gd name="connsiteY6" fmla="*/ 89323 h 2000602"/>
                <a:gd name="connisteX7" fmla="*/ 454025 w 2371795"/>
                <a:gd name="connsiteY7" fmla="*/ 154728 h 2000602"/>
                <a:gd name="connisteX8" fmla="*/ 471805 w 2371795"/>
                <a:gd name="connsiteY8" fmla="*/ 219498 h 2000602"/>
                <a:gd name="connisteX9" fmla="*/ 488950 w 2371795"/>
                <a:gd name="connsiteY9" fmla="*/ 284268 h 2000602"/>
                <a:gd name="connisteX10" fmla="*/ 501015 w 2371795"/>
                <a:gd name="connsiteY10" fmla="*/ 349038 h 2000602"/>
                <a:gd name="connisteX11" fmla="*/ 501015 w 2371795"/>
                <a:gd name="connsiteY11" fmla="*/ 413808 h 2000602"/>
                <a:gd name="connisteX12" fmla="*/ 506730 w 2371795"/>
                <a:gd name="connsiteY12" fmla="*/ 490643 h 2000602"/>
                <a:gd name="connisteX13" fmla="*/ 518795 w 2371795"/>
                <a:gd name="connsiteY13" fmla="*/ 555413 h 2000602"/>
                <a:gd name="connisteX14" fmla="*/ 554355 w 2371795"/>
                <a:gd name="connsiteY14" fmla="*/ 625898 h 2000602"/>
                <a:gd name="connisteX15" fmla="*/ 624840 w 2371795"/>
                <a:gd name="connsiteY15" fmla="*/ 679238 h 2000602"/>
                <a:gd name="connisteX16" fmla="*/ 689610 w 2371795"/>
                <a:gd name="connsiteY16" fmla="*/ 720513 h 2000602"/>
                <a:gd name="connisteX17" fmla="*/ 725170 w 2371795"/>
                <a:gd name="connsiteY17" fmla="*/ 790998 h 2000602"/>
                <a:gd name="connisteX18" fmla="*/ 742950 w 2371795"/>
                <a:gd name="connsiteY18" fmla="*/ 855768 h 2000602"/>
                <a:gd name="connisteX19" fmla="*/ 754380 w 2371795"/>
                <a:gd name="connsiteY19" fmla="*/ 926888 h 2000602"/>
                <a:gd name="connisteX20" fmla="*/ 766445 w 2371795"/>
                <a:gd name="connsiteY20" fmla="*/ 991658 h 2000602"/>
                <a:gd name="connisteX21" fmla="*/ 772160 w 2371795"/>
                <a:gd name="connsiteY21" fmla="*/ 1056428 h 2000602"/>
                <a:gd name="connisteX22" fmla="*/ 784225 w 2371795"/>
                <a:gd name="connsiteY22" fmla="*/ 1121198 h 2000602"/>
                <a:gd name="connisteX23" fmla="*/ 795655 w 2371795"/>
                <a:gd name="connsiteY23" fmla="*/ 1185968 h 2000602"/>
                <a:gd name="connisteX24" fmla="*/ 836930 w 2371795"/>
                <a:gd name="connsiteY24" fmla="*/ 1250738 h 2000602"/>
                <a:gd name="connisteX25" fmla="*/ 890270 w 2371795"/>
                <a:gd name="connsiteY25" fmla="*/ 1316143 h 2000602"/>
                <a:gd name="connisteX26" fmla="*/ 955040 w 2371795"/>
                <a:gd name="connsiteY26" fmla="*/ 1357418 h 2000602"/>
                <a:gd name="connisteX27" fmla="*/ 1019810 w 2371795"/>
                <a:gd name="connsiteY27" fmla="*/ 1374563 h 2000602"/>
                <a:gd name="connisteX28" fmla="*/ 1090930 w 2371795"/>
                <a:gd name="connsiteY28" fmla="*/ 1386628 h 2000602"/>
                <a:gd name="connisteX29" fmla="*/ 1167130 w 2371795"/>
                <a:gd name="connsiteY29" fmla="*/ 1386628 h 2000602"/>
                <a:gd name="connisteX30" fmla="*/ 1231900 w 2371795"/>
                <a:gd name="connsiteY30" fmla="*/ 1386628 h 2000602"/>
                <a:gd name="connisteX31" fmla="*/ 1308735 w 2371795"/>
                <a:gd name="connsiteY31" fmla="*/ 1386628 h 2000602"/>
                <a:gd name="connisteX32" fmla="*/ 1379220 w 2371795"/>
                <a:gd name="connsiteY32" fmla="*/ 1392343 h 2000602"/>
                <a:gd name="connisteX33" fmla="*/ 1468120 w 2371795"/>
                <a:gd name="connsiteY33" fmla="*/ 1392343 h 2000602"/>
                <a:gd name="connisteX34" fmla="*/ 1532890 w 2371795"/>
                <a:gd name="connsiteY34" fmla="*/ 1404408 h 2000602"/>
                <a:gd name="connisteX35" fmla="*/ 1609725 w 2371795"/>
                <a:gd name="connsiteY35" fmla="*/ 1404408 h 2000602"/>
                <a:gd name="connisteX36" fmla="*/ 1680210 w 2371795"/>
                <a:gd name="connsiteY36" fmla="*/ 1422188 h 2000602"/>
                <a:gd name="connisteX37" fmla="*/ 1744980 w 2371795"/>
                <a:gd name="connsiteY37" fmla="*/ 1457113 h 2000602"/>
                <a:gd name="connisteX38" fmla="*/ 1821815 w 2371795"/>
                <a:gd name="connsiteY38" fmla="*/ 1481243 h 2000602"/>
                <a:gd name="connisteX39" fmla="*/ 1898015 w 2371795"/>
                <a:gd name="connsiteY39" fmla="*/ 1486958 h 2000602"/>
                <a:gd name="connisteX40" fmla="*/ 1963420 w 2371795"/>
                <a:gd name="connsiteY40" fmla="*/ 1486958 h 2000602"/>
                <a:gd name="connisteX41" fmla="*/ 2028190 w 2371795"/>
                <a:gd name="connsiteY41" fmla="*/ 1486958 h 2000602"/>
                <a:gd name="connisteX42" fmla="*/ 2098675 w 2371795"/>
                <a:gd name="connsiteY42" fmla="*/ 1486958 h 2000602"/>
                <a:gd name="connisteX43" fmla="*/ 2163445 w 2371795"/>
                <a:gd name="connsiteY43" fmla="*/ 1457113 h 2000602"/>
                <a:gd name="connisteX44" fmla="*/ 2228215 w 2371795"/>
                <a:gd name="connsiteY44" fmla="*/ 1433618 h 2000602"/>
                <a:gd name="connisteX45" fmla="*/ 2293620 w 2371795"/>
                <a:gd name="connsiteY45" fmla="*/ 1433618 h 2000602"/>
                <a:gd name="connisteX46" fmla="*/ 2358390 w 2371795"/>
                <a:gd name="connsiteY46" fmla="*/ 1433618 h 2000602"/>
                <a:gd name="connisteX47" fmla="*/ 2364105 w 2371795"/>
                <a:gd name="connsiteY47" fmla="*/ 1498388 h 2000602"/>
                <a:gd name="connisteX48" fmla="*/ 2369820 w 2371795"/>
                <a:gd name="connsiteY48" fmla="*/ 1587288 h 2000602"/>
                <a:gd name="connisteX49" fmla="*/ 2369820 w 2371795"/>
                <a:gd name="connsiteY49" fmla="*/ 1657773 h 2000602"/>
                <a:gd name="connisteX50" fmla="*/ 2369820 w 2371795"/>
                <a:gd name="connsiteY50" fmla="*/ 1728258 h 2000602"/>
                <a:gd name="connisteX51" fmla="*/ 2369820 w 2371795"/>
                <a:gd name="connsiteY51" fmla="*/ 1805093 h 2000602"/>
                <a:gd name="connisteX52" fmla="*/ 2369820 w 2371795"/>
                <a:gd name="connsiteY52" fmla="*/ 1869863 h 2000602"/>
                <a:gd name="connisteX53" fmla="*/ 2346325 w 2371795"/>
                <a:gd name="connsiteY53" fmla="*/ 1934633 h 2000602"/>
                <a:gd name="connisteX54" fmla="*/ 2275840 w 2371795"/>
                <a:gd name="connsiteY54" fmla="*/ 1970193 h 2000602"/>
                <a:gd name="connisteX55" fmla="*/ 2199005 w 2371795"/>
                <a:gd name="connsiteY55" fmla="*/ 1970193 h 2000602"/>
                <a:gd name="connisteX56" fmla="*/ 2122170 w 2371795"/>
                <a:gd name="connsiteY56" fmla="*/ 1982258 h 2000602"/>
                <a:gd name="connisteX57" fmla="*/ 2051685 w 2371795"/>
                <a:gd name="connsiteY57" fmla="*/ 1987973 h 2000602"/>
                <a:gd name="connisteX58" fmla="*/ 1986915 w 2371795"/>
                <a:gd name="connsiteY58" fmla="*/ 1987973 h 2000602"/>
                <a:gd name="connisteX59" fmla="*/ 1922145 w 2371795"/>
                <a:gd name="connsiteY59" fmla="*/ 1993688 h 2000602"/>
                <a:gd name="connisteX60" fmla="*/ 1851025 w 2371795"/>
                <a:gd name="connsiteY60" fmla="*/ 2000038 h 2000602"/>
                <a:gd name="connisteX61" fmla="*/ 1786255 w 2371795"/>
                <a:gd name="connsiteY61" fmla="*/ 2000038 h 2000602"/>
                <a:gd name="connisteX62" fmla="*/ 1703705 w 2371795"/>
                <a:gd name="connsiteY62" fmla="*/ 2000038 h 2000602"/>
                <a:gd name="connisteX63" fmla="*/ 1638935 w 2371795"/>
                <a:gd name="connsiteY63" fmla="*/ 2000038 h 2000602"/>
                <a:gd name="connisteX64" fmla="*/ 1544320 w 2371795"/>
                <a:gd name="connsiteY64" fmla="*/ 2000038 h 2000602"/>
                <a:gd name="connisteX65" fmla="*/ 1479550 w 2371795"/>
                <a:gd name="connsiteY65" fmla="*/ 2000038 h 2000602"/>
                <a:gd name="connisteX66" fmla="*/ 1403350 w 2371795"/>
                <a:gd name="connsiteY66" fmla="*/ 2000038 h 2000602"/>
                <a:gd name="connisteX67" fmla="*/ 1337945 w 2371795"/>
                <a:gd name="connsiteY67" fmla="*/ 2000038 h 2000602"/>
                <a:gd name="connisteX68" fmla="*/ 1273175 w 2371795"/>
                <a:gd name="connsiteY68" fmla="*/ 1993688 h 2000602"/>
                <a:gd name="connisteX69" fmla="*/ 1143635 w 2371795"/>
                <a:gd name="connsiteY69" fmla="*/ 1987973 h 2000602"/>
                <a:gd name="connisteX70" fmla="*/ 1078865 w 2371795"/>
                <a:gd name="connsiteY70" fmla="*/ 1964478 h 2000602"/>
                <a:gd name="connisteX71" fmla="*/ 1014095 w 2371795"/>
                <a:gd name="connsiteY71" fmla="*/ 1952413 h 2000602"/>
                <a:gd name="connisteX72" fmla="*/ 942975 w 2371795"/>
                <a:gd name="connsiteY72" fmla="*/ 1934633 h 2000602"/>
                <a:gd name="connisteX73" fmla="*/ 884555 w 2371795"/>
                <a:gd name="connsiteY73" fmla="*/ 1864148 h 2000602"/>
                <a:gd name="connisteX74" fmla="*/ 872490 w 2371795"/>
                <a:gd name="connsiteY74" fmla="*/ 1793663 h 2000602"/>
                <a:gd name="connisteX75" fmla="*/ 872490 w 2371795"/>
                <a:gd name="connsiteY75" fmla="*/ 1728258 h 2000602"/>
                <a:gd name="connisteX76" fmla="*/ 860425 w 2371795"/>
                <a:gd name="connsiteY76" fmla="*/ 1663488 h 2000602"/>
                <a:gd name="connisteX77" fmla="*/ 836930 w 2371795"/>
                <a:gd name="connsiteY77" fmla="*/ 1587288 h 2000602"/>
                <a:gd name="connisteX78" fmla="*/ 807720 w 2371795"/>
                <a:gd name="connsiteY78" fmla="*/ 1516168 h 2000602"/>
                <a:gd name="connisteX79" fmla="*/ 777875 w 2371795"/>
                <a:gd name="connsiteY79" fmla="*/ 1451398 h 2000602"/>
                <a:gd name="connisteX80" fmla="*/ 760730 w 2371795"/>
                <a:gd name="connsiteY80" fmla="*/ 1374563 h 2000602"/>
                <a:gd name="connisteX81" fmla="*/ 695325 w 2371795"/>
                <a:gd name="connsiteY81" fmla="*/ 1333288 h 2000602"/>
                <a:gd name="connisteX82" fmla="*/ 630555 w 2371795"/>
                <a:gd name="connsiteY82" fmla="*/ 1316143 h 2000602"/>
                <a:gd name="connisteX83" fmla="*/ 571500 w 2371795"/>
                <a:gd name="connsiteY83" fmla="*/ 1245023 h 2000602"/>
                <a:gd name="connisteX84" fmla="*/ 524510 w 2371795"/>
                <a:gd name="connsiteY84" fmla="*/ 1174538 h 2000602"/>
                <a:gd name="connisteX85" fmla="*/ 513080 w 2371795"/>
                <a:gd name="connsiteY85" fmla="*/ 1109768 h 2000602"/>
                <a:gd name="connisteX86" fmla="*/ 506730 w 2371795"/>
                <a:gd name="connsiteY86" fmla="*/ 1044363 h 2000602"/>
                <a:gd name="connisteX87" fmla="*/ 501015 w 2371795"/>
                <a:gd name="connsiteY87" fmla="*/ 968163 h 2000602"/>
                <a:gd name="connisteX88" fmla="*/ 495300 w 2371795"/>
                <a:gd name="connsiteY88" fmla="*/ 903393 h 2000602"/>
                <a:gd name="connisteX89" fmla="*/ 488950 w 2371795"/>
                <a:gd name="connsiteY89" fmla="*/ 838623 h 2000602"/>
                <a:gd name="connisteX90" fmla="*/ 471805 w 2371795"/>
                <a:gd name="connsiteY90" fmla="*/ 773218 h 2000602"/>
                <a:gd name="connisteX91" fmla="*/ 448310 w 2371795"/>
                <a:gd name="connsiteY91" fmla="*/ 708448 h 2000602"/>
                <a:gd name="connisteX92" fmla="*/ 382905 w 2371795"/>
                <a:gd name="connsiteY92" fmla="*/ 649393 h 2000602"/>
                <a:gd name="connisteX93" fmla="*/ 318135 w 2371795"/>
                <a:gd name="connsiteY93" fmla="*/ 637963 h 2000602"/>
                <a:gd name="connisteX94" fmla="*/ 253365 w 2371795"/>
                <a:gd name="connsiteY94" fmla="*/ 602403 h 2000602"/>
                <a:gd name="connisteX95" fmla="*/ 182880 w 2371795"/>
                <a:gd name="connsiteY95" fmla="*/ 561128 h 2000602"/>
                <a:gd name="connisteX96" fmla="*/ 118110 w 2371795"/>
                <a:gd name="connsiteY96" fmla="*/ 508423 h 2000602"/>
                <a:gd name="connisteX97" fmla="*/ 76835 w 2371795"/>
                <a:gd name="connsiteY97" fmla="*/ 437303 h 2000602"/>
                <a:gd name="connisteX98" fmla="*/ 46990 w 2371795"/>
                <a:gd name="connsiteY98" fmla="*/ 360468 h 2000602"/>
                <a:gd name="connisteX99" fmla="*/ 17780 w 2371795"/>
                <a:gd name="connsiteY99" fmla="*/ 284268 h 2000602"/>
                <a:gd name="connisteX100" fmla="*/ 0 w 2371795"/>
                <a:gd name="connsiteY100" fmla="*/ 213148 h 2000602"/>
                <a:gd name="connisteX101" fmla="*/ 17780 w 2371795"/>
                <a:gd name="connsiteY101" fmla="*/ 148378 h 2000602"/>
                <a:gd name="connisteX102" fmla="*/ 17780 w 2371795"/>
                <a:gd name="connsiteY102" fmla="*/ 83608 h 2000602"/>
                <a:gd name="connisteX103" fmla="*/ 5715 w 2371795"/>
                <a:gd name="connsiteY103" fmla="*/ 6773 h 200060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  <a:cxn ang="0">
                  <a:pos x="connisteX62" y="connsiteY62"/>
                </a:cxn>
                <a:cxn ang="0">
                  <a:pos x="connisteX63" y="connsiteY63"/>
                </a:cxn>
                <a:cxn ang="0">
                  <a:pos x="connisteX64" y="connsiteY64"/>
                </a:cxn>
                <a:cxn ang="0">
                  <a:pos x="connisteX65" y="connsiteY65"/>
                </a:cxn>
                <a:cxn ang="0">
                  <a:pos x="connisteX66" y="connsiteY66"/>
                </a:cxn>
                <a:cxn ang="0">
                  <a:pos x="connisteX67" y="connsiteY67"/>
                </a:cxn>
                <a:cxn ang="0">
                  <a:pos x="connisteX68" y="connsiteY68"/>
                </a:cxn>
                <a:cxn ang="0">
                  <a:pos x="connisteX69" y="connsiteY69"/>
                </a:cxn>
                <a:cxn ang="0">
                  <a:pos x="connisteX70" y="connsiteY70"/>
                </a:cxn>
                <a:cxn ang="0">
                  <a:pos x="connisteX71" y="connsiteY71"/>
                </a:cxn>
                <a:cxn ang="0">
                  <a:pos x="connisteX72" y="connsiteY72"/>
                </a:cxn>
                <a:cxn ang="0">
                  <a:pos x="connisteX73" y="connsiteY73"/>
                </a:cxn>
                <a:cxn ang="0">
                  <a:pos x="connisteX74" y="connsiteY74"/>
                </a:cxn>
                <a:cxn ang="0">
                  <a:pos x="connisteX75" y="connsiteY75"/>
                </a:cxn>
                <a:cxn ang="0">
                  <a:pos x="connisteX76" y="connsiteY76"/>
                </a:cxn>
                <a:cxn ang="0">
                  <a:pos x="connisteX77" y="connsiteY77"/>
                </a:cxn>
                <a:cxn ang="0">
                  <a:pos x="connisteX78" y="connsiteY78"/>
                </a:cxn>
                <a:cxn ang="0">
                  <a:pos x="connisteX79" y="connsiteY79"/>
                </a:cxn>
                <a:cxn ang="0">
                  <a:pos x="connisteX80" y="connsiteY80"/>
                </a:cxn>
                <a:cxn ang="0">
                  <a:pos x="connisteX81" y="connsiteY81"/>
                </a:cxn>
                <a:cxn ang="0">
                  <a:pos x="connisteX82" y="connsiteY82"/>
                </a:cxn>
                <a:cxn ang="0">
                  <a:pos x="connisteX83" y="connsiteY83"/>
                </a:cxn>
                <a:cxn ang="0">
                  <a:pos x="connisteX84" y="connsiteY84"/>
                </a:cxn>
                <a:cxn ang="0">
                  <a:pos x="connisteX85" y="connsiteY85"/>
                </a:cxn>
                <a:cxn ang="0">
                  <a:pos x="connisteX86" y="connsiteY86"/>
                </a:cxn>
                <a:cxn ang="0">
                  <a:pos x="connisteX87" y="connsiteY87"/>
                </a:cxn>
                <a:cxn ang="0">
                  <a:pos x="connisteX88" y="connsiteY88"/>
                </a:cxn>
                <a:cxn ang="0">
                  <a:pos x="connisteX89" y="connsiteY89"/>
                </a:cxn>
                <a:cxn ang="0">
                  <a:pos x="connisteX90" y="connsiteY90"/>
                </a:cxn>
                <a:cxn ang="0">
                  <a:pos x="connisteX91" y="connsiteY91"/>
                </a:cxn>
                <a:cxn ang="0">
                  <a:pos x="connisteX92" y="connsiteY92"/>
                </a:cxn>
                <a:cxn ang="0">
                  <a:pos x="connisteX93" y="connsiteY93"/>
                </a:cxn>
                <a:cxn ang="0">
                  <a:pos x="connisteX94" y="connsiteY94"/>
                </a:cxn>
                <a:cxn ang="0">
                  <a:pos x="connisteX95" y="connsiteY95"/>
                </a:cxn>
                <a:cxn ang="0">
                  <a:pos x="connisteX96" y="connsiteY96"/>
                </a:cxn>
                <a:cxn ang="0">
                  <a:pos x="connisteX97" y="connsiteY97"/>
                </a:cxn>
                <a:cxn ang="0">
                  <a:pos x="connisteX98" y="connsiteY98"/>
                </a:cxn>
                <a:cxn ang="0">
                  <a:pos x="connisteX99" y="connsiteY99"/>
                </a:cxn>
                <a:cxn ang="0">
                  <a:pos x="connisteX100" y="connsiteY100"/>
                </a:cxn>
                <a:cxn ang="0">
                  <a:pos x="connisteX101" y="connsiteY101"/>
                </a:cxn>
                <a:cxn ang="0">
                  <a:pos x="connisteX102" y="connsiteY102"/>
                </a:cxn>
                <a:cxn ang="0">
                  <a:pos x="connisteX103" y="connsiteY103"/>
                </a:cxn>
              </a:cxnLst>
              <a:rect l="l" t="t" r="r" b="b"/>
              <a:pathLst>
                <a:path w="2371796" h="2000603">
                  <a:moveTo>
                    <a:pt x="5715" y="6773"/>
                  </a:moveTo>
                  <a:cubicBezTo>
                    <a:pt x="16510" y="-8467"/>
                    <a:pt x="43180" y="6773"/>
                    <a:pt x="70485" y="6773"/>
                  </a:cubicBezTo>
                  <a:cubicBezTo>
                    <a:pt x="97790" y="6773"/>
                    <a:pt x="114300" y="6773"/>
                    <a:pt x="141605" y="6773"/>
                  </a:cubicBezTo>
                  <a:cubicBezTo>
                    <a:pt x="168910" y="6773"/>
                    <a:pt x="180340" y="1693"/>
                    <a:pt x="206375" y="6773"/>
                  </a:cubicBezTo>
                  <a:cubicBezTo>
                    <a:pt x="232410" y="11853"/>
                    <a:pt x="242570" y="22648"/>
                    <a:pt x="271145" y="30903"/>
                  </a:cubicBezTo>
                  <a:cubicBezTo>
                    <a:pt x="299720" y="39158"/>
                    <a:pt x="319405" y="36618"/>
                    <a:pt x="347980" y="48048"/>
                  </a:cubicBezTo>
                  <a:cubicBezTo>
                    <a:pt x="376555" y="59478"/>
                    <a:pt x="391795" y="67733"/>
                    <a:pt x="412750" y="89323"/>
                  </a:cubicBezTo>
                  <a:cubicBezTo>
                    <a:pt x="433705" y="110913"/>
                    <a:pt x="441960" y="128693"/>
                    <a:pt x="454025" y="154728"/>
                  </a:cubicBezTo>
                  <a:cubicBezTo>
                    <a:pt x="466090" y="180763"/>
                    <a:pt x="464820" y="193463"/>
                    <a:pt x="471805" y="219498"/>
                  </a:cubicBezTo>
                  <a:cubicBezTo>
                    <a:pt x="478790" y="245533"/>
                    <a:pt x="483235" y="258233"/>
                    <a:pt x="488950" y="284268"/>
                  </a:cubicBezTo>
                  <a:cubicBezTo>
                    <a:pt x="494665" y="310303"/>
                    <a:pt x="498475" y="323003"/>
                    <a:pt x="501015" y="349038"/>
                  </a:cubicBezTo>
                  <a:cubicBezTo>
                    <a:pt x="503555" y="375073"/>
                    <a:pt x="499745" y="385233"/>
                    <a:pt x="501015" y="413808"/>
                  </a:cubicBezTo>
                  <a:cubicBezTo>
                    <a:pt x="502285" y="442383"/>
                    <a:pt x="502920" y="462068"/>
                    <a:pt x="506730" y="490643"/>
                  </a:cubicBezTo>
                  <a:cubicBezTo>
                    <a:pt x="510540" y="519218"/>
                    <a:pt x="509270" y="528108"/>
                    <a:pt x="518795" y="555413"/>
                  </a:cubicBezTo>
                  <a:cubicBezTo>
                    <a:pt x="528320" y="582718"/>
                    <a:pt x="533400" y="601133"/>
                    <a:pt x="554355" y="625898"/>
                  </a:cubicBezTo>
                  <a:cubicBezTo>
                    <a:pt x="575310" y="650663"/>
                    <a:pt x="597535" y="660188"/>
                    <a:pt x="624840" y="679238"/>
                  </a:cubicBezTo>
                  <a:cubicBezTo>
                    <a:pt x="652145" y="698288"/>
                    <a:pt x="669290" y="698288"/>
                    <a:pt x="689610" y="720513"/>
                  </a:cubicBezTo>
                  <a:cubicBezTo>
                    <a:pt x="709930" y="742738"/>
                    <a:pt x="714375" y="763693"/>
                    <a:pt x="725170" y="790998"/>
                  </a:cubicBezTo>
                  <a:cubicBezTo>
                    <a:pt x="735965" y="818303"/>
                    <a:pt x="737235" y="828463"/>
                    <a:pt x="742950" y="855768"/>
                  </a:cubicBezTo>
                  <a:cubicBezTo>
                    <a:pt x="748665" y="883073"/>
                    <a:pt x="749935" y="899583"/>
                    <a:pt x="754380" y="926888"/>
                  </a:cubicBezTo>
                  <a:cubicBezTo>
                    <a:pt x="758825" y="954193"/>
                    <a:pt x="762635" y="965623"/>
                    <a:pt x="766445" y="991658"/>
                  </a:cubicBezTo>
                  <a:cubicBezTo>
                    <a:pt x="770255" y="1017693"/>
                    <a:pt x="768350" y="1030393"/>
                    <a:pt x="772160" y="1056428"/>
                  </a:cubicBezTo>
                  <a:cubicBezTo>
                    <a:pt x="775970" y="1082463"/>
                    <a:pt x="779780" y="1095163"/>
                    <a:pt x="784225" y="1121198"/>
                  </a:cubicBezTo>
                  <a:cubicBezTo>
                    <a:pt x="788670" y="1147233"/>
                    <a:pt x="784860" y="1159933"/>
                    <a:pt x="795655" y="1185968"/>
                  </a:cubicBezTo>
                  <a:cubicBezTo>
                    <a:pt x="806450" y="1212003"/>
                    <a:pt x="817880" y="1224703"/>
                    <a:pt x="836930" y="1250738"/>
                  </a:cubicBezTo>
                  <a:cubicBezTo>
                    <a:pt x="855980" y="1276773"/>
                    <a:pt x="866775" y="1294553"/>
                    <a:pt x="890270" y="1316143"/>
                  </a:cubicBezTo>
                  <a:cubicBezTo>
                    <a:pt x="913765" y="1337733"/>
                    <a:pt x="929005" y="1345988"/>
                    <a:pt x="955040" y="1357418"/>
                  </a:cubicBezTo>
                  <a:cubicBezTo>
                    <a:pt x="981075" y="1368848"/>
                    <a:pt x="992505" y="1368848"/>
                    <a:pt x="1019810" y="1374563"/>
                  </a:cubicBezTo>
                  <a:cubicBezTo>
                    <a:pt x="1047115" y="1380278"/>
                    <a:pt x="1061720" y="1384088"/>
                    <a:pt x="1090930" y="1386628"/>
                  </a:cubicBezTo>
                  <a:cubicBezTo>
                    <a:pt x="1120140" y="1389168"/>
                    <a:pt x="1139190" y="1386628"/>
                    <a:pt x="1167130" y="1386628"/>
                  </a:cubicBezTo>
                  <a:cubicBezTo>
                    <a:pt x="1195070" y="1386628"/>
                    <a:pt x="1203325" y="1386628"/>
                    <a:pt x="1231900" y="1386628"/>
                  </a:cubicBezTo>
                  <a:cubicBezTo>
                    <a:pt x="1260475" y="1386628"/>
                    <a:pt x="1279525" y="1385358"/>
                    <a:pt x="1308735" y="1386628"/>
                  </a:cubicBezTo>
                  <a:cubicBezTo>
                    <a:pt x="1337945" y="1387898"/>
                    <a:pt x="1347470" y="1391073"/>
                    <a:pt x="1379220" y="1392343"/>
                  </a:cubicBezTo>
                  <a:cubicBezTo>
                    <a:pt x="1410970" y="1393613"/>
                    <a:pt x="1437640" y="1389803"/>
                    <a:pt x="1468120" y="1392343"/>
                  </a:cubicBezTo>
                  <a:cubicBezTo>
                    <a:pt x="1498600" y="1394883"/>
                    <a:pt x="1504315" y="1401868"/>
                    <a:pt x="1532890" y="1404408"/>
                  </a:cubicBezTo>
                  <a:cubicBezTo>
                    <a:pt x="1561465" y="1406948"/>
                    <a:pt x="1580515" y="1400598"/>
                    <a:pt x="1609725" y="1404408"/>
                  </a:cubicBezTo>
                  <a:cubicBezTo>
                    <a:pt x="1638935" y="1408218"/>
                    <a:pt x="1652905" y="1411393"/>
                    <a:pt x="1680210" y="1422188"/>
                  </a:cubicBezTo>
                  <a:cubicBezTo>
                    <a:pt x="1707515" y="1432983"/>
                    <a:pt x="1716405" y="1445048"/>
                    <a:pt x="1744980" y="1457113"/>
                  </a:cubicBezTo>
                  <a:cubicBezTo>
                    <a:pt x="1773555" y="1469178"/>
                    <a:pt x="1791335" y="1475528"/>
                    <a:pt x="1821815" y="1481243"/>
                  </a:cubicBezTo>
                  <a:cubicBezTo>
                    <a:pt x="1852295" y="1486958"/>
                    <a:pt x="1869440" y="1485688"/>
                    <a:pt x="1898015" y="1486958"/>
                  </a:cubicBezTo>
                  <a:cubicBezTo>
                    <a:pt x="1926590" y="1488228"/>
                    <a:pt x="1937385" y="1486958"/>
                    <a:pt x="1963420" y="1486958"/>
                  </a:cubicBezTo>
                  <a:cubicBezTo>
                    <a:pt x="1989455" y="1486958"/>
                    <a:pt x="2000885" y="1486958"/>
                    <a:pt x="2028190" y="1486958"/>
                  </a:cubicBezTo>
                  <a:cubicBezTo>
                    <a:pt x="2055495" y="1486958"/>
                    <a:pt x="2071370" y="1492673"/>
                    <a:pt x="2098675" y="1486958"/>
                  </a:cubicBezTo>
                  <a:cubicBezTo>
                    <a:pt x="2125980" y="1481243"/>
                    <a:pt x="2137410" y="1467908"/>
                    <a:pt x="2163445" y="1457113"/>
                  </a:cubicBezTo>
                  <a:cubicBezTo>
                    <a:pt x="2189480" y="1446318"/>
                    <a:pt x="2202180" y="1438063"/>
                    <a:pt x="2228215" y="1433618"/>
                  </a:cubicBezTo>
                  <a:cubicBezTo>
                    <a:pt x="2254250" y="1429173"/>
                    <a:pt x="2267585" y="1433618"/>
                    <a:pt x="2293620" y="1433618"/>
                  </a:cubicBezTo>
                  <a:cubicBezTo>
                    <a:pt x="2319655" y="1433618"/>
                    <a:pt x="2344420" y="1420918"/>
                    <a:pt x="2358390" y="1433618"/>
                  </a:cubicBezTo>
                  <a:cubicBezTo>
                    <a:pt x="2372360" y="1446318"/>
                    <a:pt x="2361565" y="1467908"/>
                    <a:pt x="2364105" y="1498388"/>
                  </a:cubicBezTo>
                  <a:cubicBezTo>
                    <a:pt x="2366645" y="1528868"/>
                    <a:pt x="2368550" y="1555538"/>
                    <a:pt x="2369820" y="1587288"/>
                  </a:cubicBezTo>
                  <a:cubicBezTo>
                    <a:pt x="2371090" y="1619038"/>
                    <a:pt x="2369820" y="1629833"/>
                    <a:pt x="2369820" y="1657773"/>
                  </a:cubicBezTo>
                  <a:cubicBezTo>
                    <a:pt x="2369820" y="1685713"/>
                    <a:pt x="2369820" y="1699048"/>
                    <a:pt x="2369820" y="1728258"/>
                  </a:cubicBezTo>
                  <a:cubicBezTo>
                    <a:pt x="2369820" y="1757468"/>
                    <a:pt x="2369820" y="1776518"/>
                    <a:pt x="2369820" y="1805093"/>
                  </a:cubicBezTo>
                  <a:cubicBezTo>
                    <a:pt x="2369820" y="1833668"/>
                    <a:pt x="2374265" y="1843828"/>
                    <a:pt x="2369820" y="1869863"/>
                  </a:cubicBezTo>
                  <a:cubicBezTo>
                    <a:pt x="2365375" y="1895898"/>
                    <a:pt x="2365375" y="1914313"/>
                    <a:pt x="2346325" y="1934633"/>
                  </a:cubicBezTo>
                  <a:cubicBezTo>
                    <a:pt x="2327275" y="1954953"/>
                    <a:pt x="2305050" y="1963208"/>
                    <a:pt x="2275840" y="1970193"/>
                  </a:cubicBezTo>
                  <a:cubicBezTo>
                    <a:pt x="2246630" y="1977178"/>
                    <a:pt x="2229485" y="1967653"/>
                    <a:pt x="2199005" y="1970193"/>
                  </a:cubicBezTo>
                  <a:cubicBezTo>
                    <a:pt x="2168525" y="1972733"/>
                    <a:pt x="2151380" y="1978448"/>
                    <a:pt x="2122170" y="1982258"/>
                  </a:cubicBezTo>
                  <a:cubicBezTo>
                    <a:pt x="2092960" y="1986068"/>
                    <a:pt x="2078990" y="1986703"/>
                    <a:pt x="2051685" y="1987973"/>
                  </a:cubicBezTo>
                  <a:cubicBezTo>
                    <a:pt x="2024380" y="1989243"/>
                    <a:pt x="2012950" y="1986703"/>
                    <a:pt x="1986915" y="1987973"/>
                  </a:cubicBezTo>
                  <a:cubicBezTo>
                    <a:pt x="1960880" y="1989243"/>
                    <a:pt x="1949450" y="1991148"/>
                    <a:pt x="1922145" y="1993688"/>
                  </a:cubicBezTo>
                  <a:cubicBezTo>
                    <a:pt x="1894840" y="1996228"/>
                    <a:pt x="1878330" y="1998768"/>
                    <a:pt x="1851025" y="2000038"/>
                  </a:cubicBezTo>
                  <a:cubicBezTo>
                    <a:pt x="1823720" y="2001308"/>
                    <a:pt x="1815465" y="2000038"/>
                    <a:pt x="1786255" y="2000038"/>
                  </a:cubicBezTo>
                  <a:cubicBezTo>
                    <a:pt x="1757045" y="2000038"/>
                    <a:pt x="1732915" y="2000038"/>
                    <a:pt x="1703705" y="2000038"/>
                  </a:cubicBezTo>
                  <a:cubicBezTo>
                    <a:pt x="1674495" y="2000038"/>
                    <a:pt x="1670685" y="2000038"/>
                    <a:pt x="1638935" y="2000038"/>
                  </a:cubicBezTo>
                  <a:cubicBezTo>
                    <a:pt x="1607185" y="2000038"/>
                    <a:pt x="1576070" y="2000038"/>
                    <a:pt x="1544320" y="2000038"/>
                  </a:cubicBezTo>
                  <a:cubicBezTo>
                    <a:pt x="1512570" y="2000038"/>
                    <a:pt x="1507490" y="2000038"/>
                    <a:pt x="1479550" y="2000038"/>
                  </a:cubicBezTo>
                  <a:cubicBezTo>
                    <a:pt x="1451610" y="2000038"/>
                    <a:pt x="1431925" y="2000038"/>
                    <a:pt x="1403350" y="2000038"/>
                  </a:cubicBezTo>
                  <a:cubicBezTo>
                    <a:pt x="1374775" y="2000038"/>
                    <a:pt x="1363980" y="2001308"/>
                    <a:pt x="1337945" y="2000038"/>
                  </a:cubicBezTo>
                  <a:cubicBezTo>
                    <a:pt x="1311910" y="1998768"/>
                    <a:pt x="1311910" y="1996228"/>
                    <a:pt x="1273175" y="1993688"/>
                  </a:cubicBezTo>
                  <a:cubicBezTo>
                    <a:pt x="1234440" y="1991148"/>
                    <a:pt x="1182370" y="1993688"/>
                    <a:pt x="1143635" y="1987973"/>
                  </a:cubicBezTo>
                  <a:cubicBezTo>
                    <a:pt x="1104900" y="1982258"/>
                    <a:pt x="1104900" y="1971463"/>
                    <a:pt x="1078865" y="1964478"/>
                  </a:cubicBezTo>
                  <a:cubicBezTo>
                    <a:pt x="1052830" y="1957493"/>
                    <a:pt x="1041400" y="1958128"/>
                    <a:pt x="1014095" y="1952413"/>
                  </a:cubicBezTo>
                  <a:cubicBezTo>
                    <a:pt x="986790" y="1946698"/>
                    <a:pt x="969010" y="1952413"/>
                    <a:pt x="942975" y="1934633"/>
                  </a:cubicBezTo>
                  <a:cubicBezTo>
                    <a:pt x="916940" y="1916853"/>
                    <a:pt x="898525" y="1892088"/>
                    <a:pt x="884555" y="1864148"/>
                  </a:cubicBezTo>
                  <a:cubicBezTo>
                    <a:pt x="870585" y="1836208"/>
                    <a:pt x="875030" y="1820968"/>
                    <a:pt x="872490" y="1793663"/>
                  </a:cubicBezTo>
                  <a:cubicBezTo>
                    <a:pt x="869950" y="1766358"/>
                    <a:pt x="875030" y="1754293"/>
                    <a:pt x="872490" y="1728258"/>
                  </a:cubicBezTo>
                  <a:cubicBezTo>
                    <a:pt x="869950" y="1702223"/>
                    <a:pt x="867410" y="1691428"/>
                    <a:pt x="860425" y="1663488"/>
                  </a:cubicBezTo>
                  <a:cubicBezTo>
                    <a:pt x="853440" y="1635548"/>
                    <a:pt x="847725" y="1616498"/>
                    <a:pt x="836930" y="1587288"/>
                  </a:cubicBezTo>
                  <a:cubicBezTo>
                    <a:pt x="826135" y="1558078"/>
                    <a:pt x="819785" y="1543473"/>
                    <a:pt x="807720" y="1516168"/>
                  </a:cubicBezTo>
                  <a:cubicBezTo>
                    <a:pt x="795655" y="1488863"/>
                    <a:pt x="787400" y="1479973"/>
                    <a:pt x="777875" y="1451398"/>
                  </a:cubicBezTo>
                  <a:cubicBezTo>
                    <a:pt x="768350" y="1422823"/>
                    <a:pt x="777240" y="1398058"/>
                    <a:pt x="760730" y="1374563"/>
                  </a:cubicBezTo>
                  <a:cubicBezTo>
                    <a:pt x="744220" y="1351068"/>
                    <a:pt x="721360" y="1344718"/>
                    <a:pt x="695325" y="1333288"/>
                  </a:cubicBezTo>
                  <a:cubicBezTo>
                    <a:pt x="669290" y="1321858"/>
                    <a:pt x="655320" y="1333923"/>
                    <a:pt x="630555" y="1316143"/>
                  </a:cubicBezTo>
                  <a:cubicBezTo>
                    <a:pt x="605790" y="1298363"/>
                    <a:pt x="592455" y="1273598"/>
                    <a:pt x="571500" y="1245023"/>
                  </a:cubicBezTo>
                  <a:cubicBezTo>
                    <a:pt x="550545" y="1216448"/>
                    <a:pt x="535940" y="1201843"/>
                    <a:pt x="524510" y="1174538"/>
                  </a:cubicBezTo>
                  <a:cubicBezTo>
                    <a:pt x="513080" y="1147233"/>
                    <a:pt x="516890" y="1135803"/>
                    <a:pt x="513080" y="1109768"/>
                  </a:cubicBezTo>
                  <a:cubicBezTo>
                    <a:pt x="509270" y="1083733"/>
                    <a:pt x="509270" y="1072938"/>
                    <a:pt x="506730" y="1044363"/>
                  </a:cubicBezTo>
                  <a:cubicBezTo>
                    <a:pt x="504190" y="1015788"/>
                    <a:pt x="503555" y="996103"/>
                    <a:pt x="501015" y="968163"/>
                  </a:cubicBezTo>
                  <a:cubicBezTo>
                    <a:pt x="498475" y="940223"/>
                    <a:pt x="497840" y="929428"/>
                    <a:pt x="495300" y="903393"/>
                  </a:cubicBezTo>
                  <a:cubicBezTo>
                    <a:pt x="492760" y="877358"/>
                    <a:pt x="493395" y="864658"/>
                    <a:pt x="488950" y="838623"/>
                  </a:cubicBezTo>
                  <a:cubicBezTo>
                    <a:pt x="484505" y="812588"/>
                    <a:pt x="480060" y="799253"/>
                    <a:pt x="471805" y="773218"/>
                  </a:cubicBezTo>
                  <a:cubicBezTo>
                    <a:pt x="463550" y="747183"/>
                    <a:pt x="466090" y="733213"/>
                    <a:pt x="448310" y="708448"/>
                  </a:cubicBezTo>
                  <a:cubicBezTo>
                    <a:pt x="430530" y="683683"/>
                    <a:pt x="408940" y="663363"/>
                    <a:pt x="382905" y="649393"/>
                  </a:cubicBezTo>
                  <a:cubicBezTo>
                    <a:pt x="356870" y="635423"/>
                    <a:pt x="344170" y="647488"/>
                    <a:pt x="318135" y="637963"/>
                  </a:cubicBezTo>
                  <a:cubicBezTo>
                    <a:pt x="292100" y="628438"/>
                    <a:pt x="280670" y="617643"/>
                    <a:pt x="253365" y="602403"/>
                  </a:cubicBezTo>
                  <a:cubicBezTo>
                    <a:pt x="226060" y="587163"/>
                    <a:pt x="210185" y="580178"/>
                    <a:pt x="182880" y="561128"/>
                  </a:cubicBezTo>
                  <a:cubicBezTo>
                    <a:pt x="155575" y="542078"/>
                    <a:pt x="139065" y="533188"/>
                    <a:pt x="118110" y="508423"/>
                  </a:cubicBezTo>
                  <a:cubicBezTo>
                    <a:pt x="97155" y="483658"/>
                    <a:pt x="90805" y="467148"/>
                    <a:pt x="76835" y="437303"/>
                  </a:cubicBezTo>
                  <a:cubicBezTo>
                    <a:pt x="62865" y="407458"/>
                    <a:pt x="59055" y="390948"/>
                    <a:pt x="46990" y="360468"/>
                  </a:cubicBezTo>
                  <a:cubicBezTo>
                    <a:pt x="34925" y="329988"/>
                    <a:pt x="27305" y="313478"/>
                    <a:pt x="17780" y="284268"/>
                  </a:cubicBezTo>
                  <a:cubicBezTo>
                    <a:pt x="8255" y="255058"/>
                    <a:pt x="0" y="240453"/>
                    <a:pt x="0" y="213148"/>
                  </a:cubicBezTo>
                  <a:cubicBezTo>
                    <a:pt x="0" y="185843"/>
                    <a:pt x="13970" y="174413"/>
                    <a:pt x="17780" y="148378"/>
                  </a:cubicBezTo>
                  <a:cubicBezTo>
                    <a:pt x="21590" y="122343"/>
                    <a:pt x="20320" y="112183"/>
                    <a:pt x="17780" y="83608"/>
                  </a:cubicBezTo>
                  <a:cubicBezTo>
                    <a:pt x="15240" y="55033"/>
                    <a:pt x="-5080" y="22013"/>
                    <a:pt x="5715" y="6773"/>
                  </a:cubicBezTo>
                  <a:close/>
                </a:path>
              </a:pathLst>
            </a:custGeom>
            <a:noFill/>
            <a:ln w="28575">
              <a:solidFill>
                <a:schemeClr val="accent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5380" y="7014"/>
              <a:ext cx="366" cy="4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10"/>
            <p:cNvSpPr txBox="1"/>
            <p:nvPr/>
          </p:nvSpPr>
          <p:spPr>
            <a:xfrm>
              <a:off x="1519" y="4023"/>
              <a:ext cx="2911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为</a:t>
              </a:r>
              <a:r>
                <a:rPr lang="en-US" sz="1000"/>
                <a:t>expS</a:t>
              </a:r>
              <a:r>
                <a:rPr lang="zh-CN" altLang="en-US" sz="1000"/>
                <a:t>分配的</a:t>
              </a:r>
              <a:r>
                <a:rPr lang="en-US" altLang="zh-CN" sz="1000"/>
                <a:t>space</a:t>
              </a:r>
              <a:r>
                <a:rPr lang="zh-CN" altLang="en-US" sz="1000"/>
                <a:t>，</a:t>
              </a:r>
              <a:r>
                <a:rPr lang="en-US" altLang="zh-CN" sz="1000"/>
                <a:t>save for backward</a:t>
              </a:r>
              <a:r>
                <a:rPr lang="zh-CN" altLang="en-US" sz="1000"/>
                <a:t>直到计算完</a:t>
              </a:r>
              <a:r>
                <a:rPr lang="en-US" altLang="zh-CN" sz="1000"/>
                <a:t>expBackward method</a:t>
              </a:r>
              <a:endParaRPr lang="en-US" altLang="zh-CN" sz="1000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1700" y="5412"/>
              <a:ext cx="696" cy="2067"/>
            </a:xfrm>
            <a:custGeom>
              <a:avLst/>
              <a:gdLst>
                <a:gd name="connisteX0" fmla="*/ 117475 w 442182"/>
                <a:gd name="connsiteY0" fmla="*/ 118 h 1312562"/>
                <a:gd name="connisteX1" fmla="*/ 60960 w 442182"/>
                <a:gd name="connsiteY1" fmla="*/ 76953 h 1312562"/>
                <a:gd name="connisteX2" fmla="*/ 40005 w 442182"/>
                <a:gd name="connsiteY2" fmla="*/ 154423 h 1312562"/>
                <a:gd name="connisteX3" fmla="*/ 33020 w 442182"/>
                <a:gd name="connsiteY3" fmla="*/ 224273 h 1312562"/>
                <a:gd name="connisteX4" fmla="*/ 33020 w 442182"/>
                <a:gd name="connsiteY4" fmla="*/ 294758 h 1312562"/>
                <a:gd name="connisteX5" fmla="*/ 26035 w 442182"/>
                <a:gd name="connsiteY5" fmla="*/ 371593 h 1312562"/>
                <a:gd name="connisteX6" fmla="*/ 19050 w 442182"/>
                <a:gd name="connsiteY6" fmla="*/ 442078 h 1312562"/>
                <a:gd name="connisteX7" fmla="*/ 5080 w 442182"/>
                <a:gd name="connsiteY7" fmla="*/ 526533 h 1312562"/>
                <a:gd name="connisteX8" fmla="*/ 5080 w 442182"/>
                <a:gd name="connsiteY8" fmla="*/ 596383 h 1312562"/>
                <a:gd name="connisteX9" fmla="*/ 5080 w 442182"/>
                <a:gd name="connsiteY9" fmla="*/ 666233 h 1312562"/>
                <a:gd name="connisteX10" fmla="*/ 60960 w 442182"/>
                <a:gd name="connsiteY10" fmla="*/ 736718 h 1312562"/>
                <a:gd name="connisteX11" fmla="*/ 110490 w 442182"/>
                <a:gd name="connsiteY11" fmla="*/ 806568 h 1312562"/>
                <a:gd name="connisteX12" fmla="*/ 110490 w 442182"/>
                <a:gd name="connsiteY12" fmla="*/ 877053 h 1312562"/>
                <a:gd name="connisteX13" fmla="*/ 117475 w 442182"/>
                <a:gd name="connsiteY13" fmla="*/ 946903 h 1312562"/>
                <a:gd name="connisteX14" fmla="*/ 117475 w 442182"/>
                <a:gd name="connsiteY14" fmla="*/ 1024373 h 1312562"/>
                <a:gd name="connisteX15" fmla="*/ 138430 w 442182"/>
                <a:gd name="connsiteY15" fmla="*/ 1101208 h 1312562"/>
                <a:gd name="connisteX16" fmla="*/ 152400 w 442182"/>
                <a:gd name="connsiteY16" fmla="*/ 1178678 h 1312562"/>
                <a:gd name="connisteX17" fmla="*/ 187325 w 442182"/>
                <a:gd name="connsiteY17" fmla="*/ 1248528 h 1312562"/>
                <a:gd name="connisteX18" fmla="*/ 264795 w 442182"/>
                <a:gd name="connsiteY18" fmla="*/ 1312028 h 1312562"/>
                <a:gd name="connisteX19" fmla="*/ 334645 w 442182"/>
                <a:gd name="connsiteY19" fmla="*/ 1270118 h 1312562"/>
                <a:gd name="connisteX20" fmla="*/ 370205 w 442182"/>
                <a:gd name="connsiteY20" fmla="*/ 1199633 h 1312562"/>
                <a:gd name="connisteX21" fmla="*/ 412115 w 442182"/>
                <a:gd name="connsiteY21" fmla="*/ 1129783 h 1312562"/>
                <a:gd name="connisteX22" fmla="*/ 433070 w 442182"/>
                <a:gd name="connsiteY22" fmla="*/ 1059298 h 1312562"/>
                <a:gd name="connisteX23" fmla="*/ 440055 w 442182"/>
                <a:gd name="connsiteY23" fmla="*/ 982463 h 1312562"/>
                <a:gd name="connisteX24" fmla="*/ 405130 w 442182"/>
                <a:gd name="connsiteY24" fmla="*/ 911978 h 1312562"/>
                <a:gd name="connisteX25" fmla="*/ 391160 w 442182"/>
                <a:gd name="connsiteY25" fmla="*/ 835143 h 1312562"/>
                <a:gd name="connisteX26" fmla="*/ 391160 w 442182"/>
                <a:gd name="connsiteY26" fmla="*/ 764658 h 1312562"/>
                <a:gd name="connisteX27" fmla="*/ 377190 w 442182"/>
                <a:gd name="connsiteY27" fmla="*/ 694808 h 1312562"/>
                <a:gd name="connisteX28" fmla="*/ 306705 w 442182"/>
                <a:gd name="connsiteY28" fmla="*/ 645278 h 1312562"/>
                <a:gd name="connisteX29" fmla="*/ 250825 w 442182"/>
                <a:gd name="connsiteY29" fmla="*/ 568443 h 1312562"/>
                <a:gd name="connisteX30" fmla="*/ 236855 w 442182"/>
                <a:gd name="connsiteY30" fmla="*/ 490973 h 1312562"/>
                <a:gd name="connisteX31" fmla="*/ 215900 w 442182"/>
                <a:gd name="connsiteY31" fmla="*/ 421123 h 1312562"/>
                <a:gd name="connisteX32" fmla="*/ 201295 w 442182"/>
                <a:gd name="connsiteY32" fmla="*/ 350638 h 1312562"/>
                <a:gd name="connisteX33" fmla="*/ 180340 w 442182"/>
                <a:gd name="connsiteY33" fmla="*/ 280788 h 1312562"/>
                <a:gd name="connisteX34" fmla="*/ 159385 w 442182"/>
                <a:gd name="connsiteY34" fmla="*/ 210303 h 1312562"/>
                <a:gd name="connisteX35" fmla="*/ 138430 w 442182"/>
                <a:gd name="connsiteY35" fmla="*/ 133468 h 1312562"/>
                <a:gd name="connisteX36" fmla="*/ 131445 w 442182"/>
                <a:gd name="connsiteY36" fmla="*/ 62983 h 1312562"/>
                <a:gd name="connisteX37" fmla="*/ 117475 w 442182"/>
                <a:gd name="connsiteY37" fmla="*/ 118 h 131256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</a:cxnLst>
              <a:rect l="l" t="t" r="r" b="b"/>
              <a:pathLst>
                <a:path w="442183" h="1312563">
                  <a:moveTo>
                    <a:pt x="117475" y="119"/>
                  </a:moveTo>
                  <a:cubicBezTo>
                    <a:pt x="103505" y="2659"/>
                    <a:pt x="76200" y="45839"/>
                    <a:pt x="60960" y="76954"/>
                  </a:cubicBezTo>
                  <a:cubicBezTo>
                    <a:pt x="45720" y="108069"/>
                    <a:pt x="45720" y="125214"/>
                    <a:pt x="40005" y="154424"/>
                  </a:cubicBezTo>
                  <a:cubicBezTo>
                    <a:pt x="34290" y="183634"/>
                    <a:pt x="34290" y="196334"/>
                    <a:pt x="33020" y="224274"/>
                  </a:cubicBezTo>
                  <a:cubicBezTo>
                    <a:pt x="31750" y="252214"/>
                    <a:pt x="34290" y="265549"/>
                    <a:pt x="33020" y="294759"/>
                  </a:cubicBezTo>
                  <a:cubicBezTo>
                    <a:pt x="31750" y="323969"/>
                    <a:pt x="28575" y="342384"/>
                    <a:pt x="26035" y="371594"/>
                  </a:cubicBezTo>
                  <a:cubicBezTo>
                    <a:pt x="23495" y="400804"/>
                    <a:pt x="23495" y="410964"/>
                    <a:pt x="19050" y="442079"/>
                  </a:cubicBezTo>
                  <a:cubicBezTo>
                    <a:pt x="14605" y="473194"/>
                    <a:pt x="7620" y="495419"/>
                    <a:pt x="5080" y="526534"/>
                  </a:cubicBezTo>
                  <a:cubicBezTo>
                    <a:pt x="2540" y="557649"/>
                    <a:pt x="5080" y="568444"/>
                    <a:pt x="5080" y="596384"/>
                  </a:cubicBezTo>
                  <a:cubicBezTo>
                    <a:pt x="5080" y="624324"/>
                    <a:pt x="-6350" y="638294"/>
                    <a:pt x="5080" y="666234"/>
                  </a:cubicBezTo>
                  <a:cubicBezTo>
                    <a:pt x="16510" y="694174"/>
                    <a:pt x="40005" y="708779"/>
                    <a:pt x="60960" y="736719"/>
                  </a:cubicBezTo>
                  <a:cubicBezTo>
                    <a:pt x="81915" y="764659"/>
                    <a:pt x="100330" y="778629"/>
                    <a:pt x="110490" y="806569"/>
                  </a:cubicBezTo>
                  <a:cubicBezTo>
                    <a:pt x="120650" y="834509"/>
                    <a:pt x="109220" y="849114"/>
                    <a:pt x="110490" y="877054"/>
                  </a:cubicBezTo>
                  <a:cubicBezTo>
                    <a:pt x="111760" y="904994"/>
                    <a:pt x="116205" y="917694"/>
                    <a:pt x="117475" y="946904"/>
                  </a:cubicBezTo>
                  <a:cubicBezTo>
                    <a:pt x="118745" y="976114"/>
                    <a:pt x="113030" y="993259"/>
                    <a:pt x="117475" y="1024374"/>
                  </a:cubicBezTo>
                  <a:cubicBezTo>
                    <a:pt x="121920" y="1055489"/>
                    <a:pt x="131445" y="1070094"/>
                    <a:pt x="138430" y="1101209"/>
                  </a:cubicBezTo>
                  <a:cubicBezTo>
                    <a:pt x="145415" y="1132324"/>
                    <a:pt x="142875" y="1149469"/>
                    <a:pt x="152400" y="1178679"/>
                  </a:cubicBezTo>
                  <a:cubicBezTo>
                    <a:pt x="161925" y="1207889"/>
                    <a:pt x="165100" y="1221859"/>
                    <a:pt x="187325" y="1248529"/>
                  </a:cubicBezTo>
                  <a:cubicBezTo>
                    <a:pt x="209550" y="1275199"/>
                    <a:pt x="235585" y="1307584"/>
                    <a:pt x="264795" y="1312029"/>
                  </a:cubicBezTo>
                  <a:cubicBezTo>
                    <a:pt x="294005" y="1316474"/>
                    <a:pt x="313690" y="1292344"/>
                    <a:pt x="334645" y="1270119"/>
                  </a:cubicBezTo>
                  <a:cubicBezTo>
                    <a:pt x="355600" y="1247894"/>
                    <a:pt x="354965" y="1227574"/>
                    <a:pt x="370205" y="1199634"/>
                  </a:cubicBezTo>
                  <a:cubicBezTo>
                    <a:pt x="385445" y="1171694"/>
                    <a:pt x="399415" y="1157724"/>
                    <a:pt x="412115" y="1129784"/>
                  </a:cubicBezTo>
                  <a:cubicBezTo>
                    <a:pt x="424815" y="1101844"/>
                    <a:pt x="427355" y="1088509"/>
                    <a:pt x="433070" y="1059299"/>
                  </a:cubicBezTo>
                  <a:cubicBezTo>
                    <a:pt x="438785" y="1030089"/>
                    <a:pt x="445770" y="1011674"/>
                    <a:pt x="440055" y="982464"/>
                  </a:cubicBezTo>
                  <a:cubicBezTo>
                    <a:pt x="434340" y="953254"/>
                    <a:pt x="414655" y="941189"/>
                    <a:pt x="405130" y="911979"/>
                  </a:cubicBezTo>
                  <a:cubicBezTo>
                    <a:pt x="395605" y="882769"/>
                    <a:pt x="393700" y="864354"/>
                    <a:pt x="391160" y="835144"/>
                  </a:cubicBezTo>
                  <a:cubicBezTo>
                    <a:pt x="388620" y="805934"/>
                    <a:pt x="393700" y="792599"/>
                    <a:pt x="391160" y="764659"/>
                  </a:cubicBezTo>
                  <a:cubicBezTo>
                    <a:pt x="388620" y="736719"/>
                    <a:pt x="394335" y="718939"/>
                    <a:pt x="377190" y="694809"/>
                  </a:cubicBezTo>
                  <a:cubicBezTo>
                    <a:pt x="360045" y="670679"/>
                    <a:pt x="332105" y="670679"/>
                    <a:pt x="306705" y="645279"/>
                  </a:cubicBezTo>
                  <a:cubicBezTo>
                    <a:pt x="281305" y="619879"/>
                    <a:pt x="264795" y="599559"/>
                    <a:pt x="250825" y="568444"/>
                  </a:cubicBezTo>
                  <a:cubicBezTo>
                    <a:pt x="236855" y="537329"/>
                    <a:pt x="243840" y="520184"/>
                    <a:pt x="236855" y="490974"/>
                  </a:cubicBezTo>
                  <a:cubicBezTo>
                    <a:pt x="229870" y="461764"/>
                    <a:pt x="222885" y="449064"/>
                    <a:pt x="215900" y="421124"/>
                  </a:cubicBezTo>
                  <a:cubicBezTo>
                    <a:pt x="208915" y="393184"/>
                    <a:pt x="208280" y="378579"/>
                    <a:pt x="201295" y="350639"/>
                  </a:cubicBezTo>
                  <a:cubicBezTo>
                    <a:pt x="194310" y="322699"/>
                    <a:pt x="188595" y="308729"/>
                    <a:pt x="180340" y="280789"/>
                  </a:cubicBezTo>
                  <a:cubicBezTo>
                    <a:pt x="172085" y="252849"/>
                    <a:pt x="167640" y="239514"/>
                    <a:pt x="159385" y="210304"/>
                  </a:cubicBezTo>
                  <a:cubicBezTo>
                    <a:pt x="151130" y="181094"/>
                    <a:pt x="144145" y="162679"/>
                    <a:pt x="138430" y="133469"/>
                  </a:cubicBezTo>
                  <a:cubicBezTo>
                    <a:pt x="132715" y="104259"/>
                    <a:pt x="135890" y="89654"/>
                    <a:pt x="131445" y="62984"/>
                  </a:cubicBezTo>
                  <a:cubicBezTo>
                    <a:pt x="127000" y="36314"/>
                    <a:pt x="131445" y="-2421"/>
                    <a:pt x="117475" y="119"/>
                  </a:cubicBezTo>
                  <a:close/>
                </a:path>
              </a:pathLst>
            </a:custGeom>
            <a:noFill/>
            <a:ln>
              <a:solidFill>
                <a:srgbClr val="00B0F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12072" y="5412"/>
              <a:ext cx="1446" cy="81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 Box 13"/>
            <p:cNvSpPr txBox="1"/>
            <p:nvPr/>
          </p:nvSpPr>
          <p:spPr>
            <a:xfrm>
              <a:off x="12746" y="5088"/>
              <a:ext cx="291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/>
                <a:t>divBackward</a:t>
              </a:r>
              <a:r>
                <a:rPr lang="zh-CN" altLang="en-US" sz="1000"/>
                <a:t>给</a:t>
              </a:r>
              <a:r>
                <a:rPr lang="en-US" altLang="zh-CN" sz="1000"/>
                <a:t>dS</a:t>
              </a:r>
              <a:r>
                <a:rPr lang="zh-CN" altLang="en-US" sz="1000"/>
                <a:t>分配的空间</a:t>
              </a:r>
              <a:endParaRPr lang="zh-CN" altLang="en-US" sz="1000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1228" y="5454"/>
              <a:ext cx="564" cy="1078"/>
            </a:xfrm>
            <a:custGeom>
              <a:avLst/>
              <a:gdLst>
                <a:gd name="connisteX0" fmla="*/ 94544 w 357857"/>
                <a:gd name="connsiteY0" fmla="*/ 29222 h 684381"/>
                <a:gd name="connisteX1" fmla="*/ 51999 w 357857"/>
                <a:gd name="connsiteY1" fmla="*/ 113677 h 684381"/>
                <a:gd name="connisteX2" fmla="*/ 17074 w 357857"/>
                <a:gd name="connsiteY2" fmla="*/ 183527 h 684381"/>
                <a:gd name="connisteX3" fmla="*/ 3104 w 357857"/>
                <a:gd name="connsiteY3" fmla="*/ 267982 h 684381"/>
                <a:gd name="connisteX4" fmla="*/ 3104 w 357857"/>
                <a:gd name="connsiteY4" fmla="*/ 344817 h 684381"/>
                <a:gd name="connisteX5" fmla="*/ 3104 w 357857"/>
                <a:gd name="connsiteY5" fmla="*/ 415302 h 684381"/>
                <a:gd name="connisteX6" fmla="*/ 3104 w 357857"/>
                <a:gd name="connsiteY6" fmla="*/ 485152 h 684381"/>
                <a:gd name="connisteX7" fmla="*/ 38029 w 357857"/>
                <a:gd name="connsiteY7" fmla="*/ 555637 h 684381"/>
                <a:gd name="connisteX8" fmla="*/ 87559 w 357857"/>
                <a:gd name="connsiteY8" fmla="*/ 625487 h 684381"/>
                <a:gd name="connisteX9" fmla="*/ 157409 w 357857"/>
                <a:gd name="connsiteY9" fmla="*/ 668032 h 684381"/>
                <a:gd name="connisteX10" fmla="*/ 234879 w 357857"/>
                <a:gd name="connsiteY10" fmla="*/ 682002 h 684381"/>
                <a:gd name="connisteX11" fmla="*/ 304729 w 357857"/>
                <a:gd name="connsiteY11" fmla="*/ 632472 h 684381"/>
                <a:gd name="connisteX12" fmla="*/ 353624 w 357857"/>
                <a:gd name="connsiteY12" fmla="*/ 562622 h 684381"/>
                <a:gd name="connisteX13" fmla="*/ 353624 w 357857"/>
                <a:gd name="connsiteY13" fmla="*/ 492137 h 684381"/>
                <a:gd name="connisteX14" fmla="*/ 353624 w 357857"/>
                <a:gd name="connsiteY14" fmla="*/ 422287 h 684381"/>
                <a:gd name="connisteX15" fmla="*/ 353624 w 357857"/>
                <a:gd name="connsiteY15" fmla="*/ 352437 h 684381"/>
                <a:gd name="connisteX16" fmla="*/ 353624 w 357857"/>
                <a:gd name="connsiteY16" fmla="*/ 274967 h 684381"/>
                <a:gd name="connisteX17" fmla="*/ 346639 w 357857"/>
                <a:gd name="connsiteY17" fmla="*/ 205117 h 684381"/>
                <a:gd name="connisteX18" fmla="*/ 325684 w 357857"/>
                <a:gd name="connsiteY18" fmla="*/ 134632 h 684381"/>
                <a:gd name="connisteX19" fmla="*/ 276789 w 357857"/>
                <a:gd name="connsiteY19" fmla="*/ 64782 h 684381"/>
                <a:gd name="connisteX20" fmla="*/ 199319 w 357857"/>
                <a:gd name="connsiteY20" fmla="*/ 8267 h 684381"/>
                <a:gd name="connisteX21" fmla="*/ 129469 w 357857"/>
                <a:gd name="connsiteY21" fmla="*/ 1282 h 684381"/>
                <a:gd name="connisteX22" fmla="*/ 58984 w 357857"/>
                <a:gd name="connsiteY22" fmla="*/ 8267 h 68438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</a:cxnLst>
              <a:rect l="l" t="t" r="r" b="b"/>
              <a:pathLst>
                <a:path w="357858" h="684381">
                  <a:moveTo>
                    <a:pt x="94544" y="29222"/>
                  </a:moveTo>
                  <a:cubicBezTo>
                    <a:pt x="86924" y="44462"/>
                    <a:pt x="67239" y="82562"/>
                    <a:pt x="51999" y="113677"/>
                  </a:cubicBezTo>
                  <a:cubicBezTo>
                    <a:pt x="36759" y="144792"/>
                    <a:pt x="26599" y="152412"/>
                    <a:pt x="17074" y="183527"/>
                  </a:cubicBezTo>
                  <a:cubicBezTo>
                    <a:pt x="7549" y="214642"/>
                    <a:pt x="5644" y="235597"/>
                    <a:pt x="3104" y="267982"/>
                  </a:cubicBezTo>
                  <a:cubicBezTo>
                    <a:pt x="564" y="300367"/>
                    <a:pt x="3104" y="315607"/>
                    <a:pt x="3104" y="344817"/>
                  </a:cubicBezTo>
                  <a:cubicBezTo>
                    <a:pt x="3104" y="374027"/>
                    <a:pt x="3104" y="387362"/>
                    <a:pt x="3104" y="415302"/>
                  </a:cubicBezTo>
                  <a:cubicBezTo>
                    <a:pt x="3104" y="443242"/>
                    <a:pt x="-3881" y="457212"/>
                    <a:pt x="3104" y="485152"/>
                  </a:cubicBezTo>
                  <a:cubicBezTo>
                    <a:pt x="10089" y="513092"/>
                    <a:pt x="20884" y="527697"/>
                    <a:pt x="38029" y="555637"/>
                  </a:cubicBezTo>
                  <a:cubicBezTo>
                    <a:pt x="55174" y="583577"/>
                    <a:pt x="63429" y="603262"/>
                    <a:pt x="87559" y="625487"/>
                  </a:cubicBezTo>
                  <a:cubicBezTo>
                    <a:pt x="111689" y="647712"/>
                    <a:pt x="128199" y="656602"/>
                    <a:pt x="157409" y="668032"/>
                  </a:cubicBezTo>
                  <a:cubicBezTo>
                    <a:pt x="186619" y="679462"/>
                    <a:pt x="205669" y="688987"/>
                    <a:pt x="234879" y="682002"/>
                  </a:cubicBezTo>
                  <a:cubicBezTo>
                    <a:pt x="264089" y="675017"/>
                    <a:pt x="281234" y="656602"/>
                    <a:pt x="304729" y="632472"/>
                  </a:cubicBezTo>
                  <a:cubicBezTo>
                    <a:pt x="328224" y="608342"/>
                    <a:pt x="344099" y="590562"/>
                    <a:pt x="353624" y="562622"/>
                  </a:cubicBezTo>
                  <a:cubicBezTo>
                    <a:pt x="363149" y="534682"/>
                    <a:pt x="353624" y="520077"/>
                    <a:pt x="353624" y="492137"/>
                  </a:cubicBezTo>
                  <a:cubicBezTo>
                    <a:pt x="353624" y="464197"/>
                    <a:pt x="353624" y="450227"/>
                    <a:pt x="353624" y="422287"/>
                  </a:cubicBezTo>
                  <a:cubicBezTo>
                    <a:pt x="353624" y="394347"/>
                    <a:pt x="353624" y="381647"/>
                    <a:pt x="353624" y="352437"/>
                  </a:cubicBezTo>
                  <a:cubicBezTo>
                    <a:pt x="353624" y="323227"/>
                    <a:pt x="354894" y="304177"/>
                    <a:pt x="353624" y="274967"/>
                  </a:cubicBezTo>
                  <a:cubicBezTo>
                    <a:pt x="352354" y="245757"/>
                    <a:pt x="352354" y="233057"/>
                    <a:pt x="346639" y="205117"/>
                  </a:cubicBezTo>
                  <a:cubicBezTo>
                    <a:pt x="340924" y="177177"/>
                    <a:pt x="339654" y="162572"/>
                    <a:pt x="325684" y="134632"/>
                  </a:cubicBezTo>
                  <a:cubicBezTo>
                    <a:pt x="311714" y="106692"/>
                    <a:pt x="302189" y="90182"/>
                    <a:pt x="276789" y="64782"/>
                  </a:cubicBezTo>
                  <a:cubicBezTo>
                    <a:pt x="251389" y="39382"/>
                    <a:pt x="228529" y="20967"/>
                    <a:pt x="199319" y="8267"/>
                  </a:cubicBezTo>
                  <a:cubicBezTo>
                    <a:pt x="170109" y="-4433"/>
                    <a:pt x="157409" y="1282"/>
                    <a:pt x="129469" y="1282"/>
                  </a:cubicBezTo>
                  <a:cubicBezTo>
                    <a:pt x="101529" y="1282"/>
                    <a:pt x="71684" y="6997"/>
                    <a:pt x="58984" y="826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>
              <a:off x="11549" y="4042"/>
              <a:ext cx="1827" cy="13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10230" y="4429"/>
              <a:ext cx="1725" cy="3065"/>
            </a:xfrm>
            <a:custGeom>
              <a:avLst/>
              <a:gdLst>
                <a:gd name="connisteX0" fmla="*/ 153012 w 1095659"/>
                <a:gd name="connsiteY0" fmla="*/ 0 h 1946204"/>
                <a:gd name="connisteX1" fmla="*/ 61572 w 1095659"/>
                <a:gd name="connsiteY1" fmla="*/ 56515 h 1946204"/>
                <a:gd name="connisteX2" fmla="*/ 5692 w 1095659"/>
                <a:gd name="connsiteY2" fmla="*/ 133350 h 1946204"/>
                <a:gd name="connisteX3" fmla="*/ 5692 w 1095659"/>
                <a:gd name="connsiteY3" fmla="*/ 203835 h 1946204"/>
                <a:gd name="connisteX4" fmla="*/ 19662 w 1095659"/>
                <a:gd name="connsiteY4" fmla="*/ 273685 h 1946204"/>
                <a:gd name="connisteX5" fmla="*/ 47602 w 1095659"/>
                <a:gd name="connsiteY5" fmla="*/ 358140 h 1946204"/>
                <a:gd name="connisteX6" fmla="*/ 61572 w 1095659"/>
                <a:gd name="connsiteY6" fmla="*/ 427990 h 1946204"/>
                <a:gd name="connisteX7" fmla="*/ 61572 w 1095659"/>
                <a:gd name="connsiteY7" fmla="*/ 497840 h 1946204"/>
                <a:gd name="connisteX8" fmla="*/ 68557 w 1095659"/>
                <a:gd name="connsiteY8" fmla="*/ 568325 h 1946204"/>
                <a:gd name="connisteX9" fmla="*/ 89512 w 1095659"/>
                <a:gd name="connsiteY9" fmla="*/ 638175 h 1946204"/>
                <a:gd name="connisteX10" fmla="*/ 132057 w 1095659"/>
                <a:gd name="connsiteY10" fmla="*/ 708660 h 1946204"/>
                <a:gd name="connisteX11" fmla="*/ 166982 w 1095659"/>
                <a:gd name="connsiteY11" fmla="*/ 785495 h 1946204"/>
                <a:gd name="connisteX12" fmla="*/ 187937 w 1095659"/>
                <a:gd name="connsiteY12" fmla="*/ 862965 h 1946204"/>
                <a:gd name="connisteX13" fmla="*/ 201907 w 1095659"/>
                <a:gd name="connsiteY13" fmla="*/ 947420 h 1946204"/>
                <a:gd name="connisteX14" fmla="*/ 222862 w 1095659"/>
                <a:gd name="connsiteY14" fmla="*/ 1017270 h 1946204"/>
                <a:gd name="connisteX15" fmla="*/ 243817 w 1095659"/>
                <a:gd name="connsiteY15" fmla="*/ 1087120 h 1946204"/>
                <a:gd name="connisteX16" fmla="*/ 279377 w 1095659"/>
                <a:gd name="connsiteY16" fmla="*/ 1157605 h 1946204"/>
                <a:gd name="connisteX17" fmla="*/ 293347 w 1095659"/>
                <a:gd name="connsiteY17" fmla="*/ 1241425 h 1946204"/>
                <a:gd name="connisteX18" fmla="*/ 300332 w 1095659"/>
                <a:gd name="connsiteY18" fmla="*/ 1311910 h 1946204"/>
                <a:gd name="connisteX19" fmla="*/ 321287 w 1095659"/>
                <a:gd name="connsiteY19" fmla="*/ 1381760 h 1946204"/>
                <a:gd name="connisteX20" fmla="*/ 321287 w 1095659"/>
                <a:gd name="connsiteY20" fmla="*/ 1459230 h 1946204"/>
                <a:gd name="connisteX21" fmla="*/ 342242 w 1095659"/>
                <a:gd name="connsiteY21" fmla="*/ 1529080 h 1946204"/>
                <a:gd name="connisteX22" fmla="*/ 342242 w 1095659"/>
                <a:gd name="connsiteY22" fmla="*/ 1599565 h 1946204"/>
                <a:gd name="connisteX23" fmla="*/ 349227 w 1095659"/>
                <a:gd name="connsiteY23" fmla="*/ 1669415 h 1946204"/>
                <a:gd name="connisteX24" fmla="*/ 384152 w 1095659"/>
                <a:gd name="connsiteY24" fmla="*/ 1746885 h 1946204"/>
                <a:gd name="connisteX25" fmla="*/ 433682 w 1095659"/>
                <a:gd name="connsiteY25" fmla="*/ 1816735 h 1946204"/>
                <a:gd name="connisteX26" fmla="*/ 517502 w 1095659"/>
                <a:gd name="connsiteY26" fmla="*/ 1873250 h 1946204"/>
                <a:gd name="connisteX27" fmla="*/ 587987 w 1095659"/>
                <a:gd name="connsiteY27" fmla="*/ 1922145 h 1946204"/>
                <a:gd name="connisteX28" fmla="*/ 657837 w 1095659"/>
                <a:gd name="connsiteY28" fmla="*/ 1943100 h 1946204"/>
                <a:gd name="connisteX29" fmla="*/ 735307 w 1095659"/>
                <a:gd name="connsiteY29" fmla="*/ 1943100 h 1946204"/>
                <a:gd name="connisteX30" fmla="*/ 812142 w 1095659"/>
                <a:gd name="connsiteY30" fmla="*/ 1943100 h 1946204"/>
                <a:gd name="connisteX31" fmla="*/ 896597 w 1095659"/>
                <a:gd name="connsiteY31" fmla="*/ 1943100 h 1946204"/>
                <a:gd name="connisteX32" fmla="*/ 966447 w 1095659"/>
                <a:gd name="connsiteY32" fmla="*/ 1908175 h 1946204"/>
                <a:gd name="connisteX33" fmla="*/ 1043917 w 1095659"/>
                <a:gd name="connsiteY33" fmla="*/ 1830705 h 1946204"/>
                <a:gd name="connisteX34" fmla="*/ 1064872 w 1095659"/>
                <a:gd name="connsiteY34" fmla="*/ 1760855 h 1946204"/>
                <a:gd name="connisteX35" fmla="*/ 1092812 w 1095659"/>
                <a:gd name="connsiteY35" fmla="*/ 1691005 h 1946204"/>
                <a:gd name="connisteX36" fmla="*/ 1092812 w 1095659"/>
                <a:gd name="connsiteY36" fmla="*/ 1620520 h 1946204"/>
                <a:gd name="connisteX37" fmla="*/ 1085827 w 1095659"/>
                <a:gd name="connsiteY37" fmla="*/ 1550670 h 1946204"/>
                <a:gd name="connisteX38" fmla="*/ 1057887 w 1095659"/>
                <a:gd name="connsiteY38" fmla="*/ 1466215 h 1946204"/>
                <a:gd name="connisteX39" fmla="*/ 1043917 w 1095659"/>
                <a:gd name="connsiteY39" fmla="*/ 1388745 h 1946204"/>
                <a:gd name="connisteX40" fmla="*/ 973432 w 1095659"/>
                <a:gd name="connsiteY40" fmla="*/ 1360805 h 1946204"/>
                <a:gd name="connisteX41" fmla="*/ 896597 w 1095659"/>
                <a:gd name="connsiteY41" fmla="*/ 1360805 h 1946204"/>
                <a:gd name="connisteX42" fmla="*/ 826112 w 1095659"/>
                <a:gd name="connsiteY42" fmla="*/ 1360805 h 1946204"/>
                <a:gd name="connisteX43" fmla="*/ 756262 w 1095659"/>
                <a:gd name="connsiteY43" fmla="*/ 1374775 h 1946204"/>
                <a:gd name="connisteX44" fmla="*/ 678792 w 1095659"/>
                <a:gd name="connsiteY44" fmla="*/ 1374775 h 1946204"/>
                <a:gd name="connisteX45" fmla="*/ 601957 w 1095659"/>
                <a:gd name="connsiteY45" fmla="*/ 1367790 h 1946204"/>
                <a:gd name="connisteX46" fmla="*/ 531472 w 1095659"/>
                <a:gd name="connsiteY46" fmla="*/ 1311910 h 1946204"/>
                <a:gd name="connisteX47" fmla="*/ 461622 w 1095659"/>
                <a:gd name="connsiteY47" fmla="*/ 1263015 h 1946204"/>
                <a:gd name="connisteX48" fmla="*/ 391137 w 1095659"/>
                <a:gd name="connsiteY48" fmla="*/ 1192530 h 1946204"/>
                <a:gd name="connisteX49" fmla="*/ 370182 w 1095659"/>
                <a:gd name="connsiteY49" fmla="*/ 1115695 h 1946204"/>
                <a:gd name="connisteX50" fmla="*/ 356212 w 1095659"/>
                <a:gd name="connsiteY50" fmla="*/ 1045210 h 1946204"/>
                <a:gd name="connisteX51" fmla="*/ 349227 w 1095659"/>
                <a:gd name="connsiteY51" fmla="*/ 968375 h 1946204"/>
                <a:gd name="connisteX52" fmla="*/ 342242 w 1095659"/>
                <a:gd name="connsiteY52" fmla="*/ 897890 h 1946204"/>
                <a:gd name="connisteX53" fmla="*/ 335257 w 1095659"/>
                <a:gd name="connsiteY53" fmla="*/ 828040 h 1946204"/>
                <a:gd name="connisteX54" fmla="*/ 328272 w 1095659"/>
                <a:gd name="connsiteY54" fmla="*/ 757555 h 1946204"/>
                <a:gd name="connisteX55" fmla="*/ 314302 w 1095659"/>
                <a:gd name="connsiteY55" fmla="*/ 680720 h 1946204"/>
                <a:gd name="connisteX56" fmla="*/ 307317 w 1095659"/>
                <a:gd name="connsiteY56" fmla="*/ 610235 h 1946204"/>
                <a:gd name="connisteX57" fmla="*/ 300332 w 1095659"/>
                <a:gd name="connsiteY57" fmla="*/ 540385 h 1946204"/>
                <a:gd name="connisteX58" fmla="*/ 286362 w 1095659"/>
                <a:gd name="connsiteY58" fmla="*/ 469900 h 1946204"/>
                <a:gd name="connisteX59" fmla="*/ 279377 w 1095659"/>
                <a:gd name="connsiteY59" fmla="*/ 400050 h 1946204"/>
                <a:gd name="connisteX60" fmla="*/ 257787 w 1095659"/>
                <a:gd name="connsiteY60" fmla="*/ 322580 h 1946204"/>
                <a:gd name="connisteX61" fmla="*/ 236832 w 1095659"/>
                <a:gd name="connsiteY61" fmla="*/ 252730 h 1946204"/>
                <a:gd name="connisteX62" fmla="*/ 215877 w 1095659"/>
                <a:gd name="connsiteY62" fmla="*/ 182245 h 1946204"/>
                <a:gd name="connisteX63" fmla="*/ 208892 w 1095659"/>
                <a:gd name="connsiteY63" fmla="*/ 112395 h 1946204"/>
                <a:gd name="connisteX64" fmla="*/ 166982 w 1095659"/>
                <a:gd name="connsiteY64" fmla="*/ 41910 h 194620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  <a:cxn ang="0">
                  <a:pos x="connisteX62" y="connsiteY62"/>
                </a:cxn>
                <a:cxn ang="0">
                  <a:pos x="connisteX63" y="connsiteY63"/>
                </a:cxn>
                <a:cxn ang="0">
                  <a:pos x="connisteX64" y="connsiteY64"/>
                </a:cxn>
              </a:cxnLst>
              <a:rect l="l" t="t" r="r" b="b"/>
              <a:pathLst>
                <a:path w="1095659" h="1946204">
                  <a:moveTo>
                    <a:pt x="153013" y="0"/>
                  </a:moveTo>
                  <a:cubicBezTo>
                    <a:pt x="135868" y="9525"/>
                    <a:pt x="90783" y="29845"/>
                    <a:pt x="61573" y="56515"/>
                  </a:cubicBezTo>
                  <a:cubicBezTo>
                    <a:pt x="32363" y="83185"/>
                    <a:pt x="17123" y="104140"/>
                    <a:pt x="5693" y="133350"/>
                  </a:cubicBezTo>
                  <a:cubicBezTo>
                    <a:pt x="-5737" y="162560"/>
                    <a:pt x="3153" y="175895"/>
                    <a:pt x="5693" y="203835"/>
                  </a:cubicBezTo>
                  <a:cubicBezTo>
                    <a:pt x="8233" y="231775"/>
                    <a:pt x="11408" y="242570"/>
                    <a:pt x="19663" y="273685"/>
                  </a:cubicBezTo>
                  <a:cubicBezTo>
                    <a:pt x="27918" y="304800"/>
                    <a:pt x="39348" y="327025"/>
                    <a:pt x="47603" y="358140"/>
                  </a:cubicBezTo>
                  <a:cubicBezTo>
                    <a:pt x="55858" y="389255"/>
                    <a:pt x="59033" y="400050"/>
                    <a:pt x="61573" y="427990"/>
                  </a:cubicBezTo>
                  <a:cubicBezTo>
                    <a:pt x="64113" y="455930"/>
                    <a:pt x="60303" y="469900"/>
                    <a:pt x="61573" y="497840"/>
                  </a:cubicBezTo>
                  <a:cubicBezTo>
                    <a:pt x="62843" y="525780"/>
                    <a:pt x="62843" y="540385"/>
                    <a:pt x="68558" y="568325"/>
                  </a:cubicBezTo>
                  <a:cubicBezTo>
                    <a:pt x="74273" y="596265"/>
                    <a:pt x="76813" y="610235"/>
                    <a:pt x="89513" y="638175"/>
                  </a:cubicBezTo>
                  <a:cubicBezTo>
                    <a:pt x="102213" y="666115"/>
                    <a:pt x="116818" y="679450"/>
                    <a:pt x="132058" y="708660"/>
                  </a:cubicBezTo>
                  <a:cubicBezTo>
                    <a:pt x="147298" y="737870"/>
                    <a:pt x="155553" y="754380"/>
                    <a:pt x="166983" y="785495"/>
                  </a:cubicBezTo>
                  <a:cubicBezTo>
                    <a:pt x="178413" y="816610"/>
                    <a:pt x="180953" y="830580"/>
                    <a:pt x="187938" y="862965"/>
                  </a:cubicBezTo>
                  <a:cubicBezTo>
                    <a:pt x="194923" y="895350"/>
                    <a:pt x="194923" y="916305"/>
                    <a:pt x="201908" y="947420"/>
                  </a:cubicBezTo>
                  <a:cubicBezTo>
                    <a:pt x="208893" y="978535"/>
                    <a:pt x="214608" y="989330"/>
                    <a:pt x="222863" y="1017270"/>
                  </a:cubicBezTo>
                  <a:cubicBezTo>
                    <a:pt x="231118" y="1045210"/>
                    <a:pt x="232388" y="1059180"/>
                    <a:pt x="243818" y="1087120"/>
                  </a:cubicBezTo>
                  <a:cubicBezTo>
                    <a:pt x="255248" y="1115060"/>
                    <a:pt x="269218" y="1126490"/>
                    <a:pt x="279378" y="1157605"/>
                  </a:cubicBezTo>
                  <a:cubicBezTo>
                    <a:pt x="289538" y="1188720"/>
                    <a:pt x="288903" y="1210310"/>
                    <a:pt x="293348" y="1241425"/>
                  </a:cubicBezTo>
                  <a:cubicBezTo>
                    <a:pt x="297793" y="1272540"/>
                    <a:pt x="294618" y="1283970"/>
                    <a:pt x="300333" y="1311910"/>
                  </a:cubicBezTo>
                  <a:cubicBezTo>
                    <a:pt x="306048" y="1339850"/>
                    <a:pt x="316843" y="1352550"/>
                    <a:pt x="321288" y="1381760"/>
                  </a:cubicBezTo>
                  <a:cubicBezTo>
                    <a:pt x="325733" y="1410970"/>
                    <a:pt x="316843" y="1430020"/>
                    <a:pt x="321288" y="1459230"/>
                  </a:cubicBezTo>
                  <a:cubicBezTo>
                    <a:pt x="325733" y="1488440"/>
                    <a:pt x="337798" y="1501140"/>
                    <a:pt x="342243" y="1529080"/>
                  </a:cubicBezTo>
                  <a:cubicBezTo>
                    <a:pt x="346688" y="1557020"/>
                    <a:pt x="340973" y="1571625"/>
                    <a:pt x="342243" y="1599565"/>
                  </a:cubicBezTo>
                  <a:cubicBezTo>
                    <a:pt x="343513" y="1627505"/>
                    <a:pt x="340973" y="1640205"/>
                    <a:pt x="349228" y="1669415"/>
                  </a:cubicBezTo>
                  <a:cubicBezTo>
                    <a:pt x="357483" y="1698625"/>
                    <a:pt x="367008" y="1717675"/>
                    <a:pt x="384153" y="1746885"/>
                  </a:cubicBezTo>
                  <a:cubicBezTo>
                    <a:pt x="401298" y="1776095"/>
                    <a:pt x="407013" y="1791335"/>
                    <a:pt x="433683" y="1816735"/>
                  </a:cubicBezTo>
                  <a:cubicBezTo>
                    <a:pt x="460353" y="1842135"/>
                    <a:pt x="486388" y="1852295"/>
                    <a:pt x="517503" y="1873250"/>
                  </a:cubicBezTo>
                  <a:cubicBezTo>
                    <a:pt x="548618" y="1894205"/>
                    <a:pt x="560048" y="1908175"/>
                    <a:pt x="587988" y="1922145"/>
                  </a:cubicBezTo>
                  <a:cubicBezTo>
                    <a:pt x="615928" y="1936115"/>
                    <a:pt x="628628" y="1938655"/>
                    <a:pt x="657838" y="1943100"/>
                  </a:cubicBezTo>
                  <a:cubicBezTo>
                    <a:pt x="687048" y="1947545"/>
                    <a:pt x="704193" y="1943100"/>
                    <a:pt x="735308" y="1943100"/>
                  </a:cubicBezTo>
                  <a:cubicBezTo>
                    <a:pt x="766423" y="1943100"/>
                    <a:pt x="779758" y="1943100"/>
                    <a:pt x="812143" y="1943100"/>
                  </a:cubicBezTo>
                  <a:cubicBezTo>
                    <a:pt x="844528" y="1943100"/>
                    <a:pt x="865483" y="1950085"/>
                    <a:pt x="896598" y="1943100"/>
                  </a:cubicBezTo>
                  <a:cubicBezTo>
                    <a:pt x="927713" y="1936115"/>
                    <a:pt x="937238" y="1930400"/>
                    <a:pt x="966448" y="1908175"/>
                  </a:cubicBezTo>
                  <a:cubicBezTo>
                    <a:pt x="995658" y="1885950"/>
                    <a:pt x="1024233" y="1859915"/>
                    <a:pt x="1043918" y="1830705"/>
                  </a:cubicBezTo>
                  <a:cubicBezTo>
                    <a:pt x="1063603" y="1801495"/>
                    <a:pt x="1055348" y="1788795"/>
                    <a:pt x="1064873" y="1760855"/>
                  </a:cubicBezTo>
                  <a:cubicBezTo>
                    <a:pt x="1074398" y="1732915"/>
                    <a:pt x="1087098" y="1718945"/>
                    <a:pt x="1092813" y="1691005"/>
                  </a:cubicBezTo>
                  <a:cubicBezTo>
                    <a:pt x="1098528" y="1663065"/>
                    <a:pt x="1094083" y="1648460"/>
                    <a:pt x="1092813" y="1620520"/>
                  </a:cubicBezTo>
                  <a:cubicBezTo>
                    <a:pt x="1091543" y="1592580"/>
                    <a:pt x="1092813" y="1581785"/>
                    <a:pt x="1085828" y="1550670"/>
                  </a:cubicBezTo>
                  <a:cubicBezTo>
                    <a:pt x="1078843" y="1519555"/>
                    <a:pt x="1066143" y="1498600"/>
                    <a:pt x="1057888" y="1466215"/>
                  </a:cubicBezTo>
                  <a:cubicBezTo>
                    <a:pt x="1049633" y="1433830"/>
                    <a:pt x="1061063" y="1409700"/>
                    <a:pt x="1043918" y="1388745"/>
                  </a:cubicBezTo>
                  <a:cubicBezTo>
                    <a:pt x="1026773" y="1367790"/>
                    <a:pt x="1002643" y="1366520"/>
                    <a:pt x="973433" y="1360805"/>
                  </a:cubicBezTo>
                  <a:cubicBezTo>
                    <a:pt x="944223" y="1355090"/>
                    <a:pt x="925808" y="1360805"/>
                    <a:pt x="896598" y="1360805"/>
                  </a:cubicBezTo>
                  <a:cubicBezTo>
                    <a:pt x="867388" y="1360805"/>
                    <a:pt x="854053" y="1358265"/>
                    <a:pt x="826113" y="1360805"/>
                  </a:cubicBezTo>
                  <a:cubicBezTo>
                    <a:pt x="798173" y="1363345"/>
                    <a:pt x="785473" y="1372235"/>
                    <a:pt x="756263" y="1374775"/>
                  </a:cubicBezTo>
                  <a:cubicBezTo>
                    <a:pt x="727053" y="1377315"/>
                    <a:pt x="709908" y="1376045"/>
                    <a:pt x="678793" y="1374775"/>
                  </a:cubicBezTo>
                  <a:cubicBezTo>
                    <a:pt x="647678" y="1373505"/>
                    <a:pt x="631168" y="1380490"/>
                    <a:pt x="601958" y="1367790"/>
                  </a:cubicBezTo>
                  <a:cubicBezTo>
                    <a:pt x="572748" y="1355090"/>
                    <a:pt x="559413" y="1332865"/>
                    <a:pt x="531473" y="1311910"/>
                  </a:cubicBezTo>
                  <a:cubicBezTo>
                    <a:pt x="503533" y="1290955"/>
                    <a:pt x="489563" y="1287145"/>
                    <a:pt x="461623" y="1263015"/>
                  </a:cubicBezTo>
                  <a:cubicBezTo>
                    <a:pt x="433683" y="1238885"/>
                    <a:pt x="409553" y="1221740"/>
                    <a:pt x="391138" y="1192530"/>
                  </a:cubicBezTo>
                  <a:cubicBezTo>
                    <a:pt x="372723" y="1163320"/>
                    <a:pt x="377168" y="1144905"/>
                    <a:pt x="370183" y="1115695"/>
                  </a:cubicBezTo>
                  <a:cubicBezTo>
                    <a:pt x="363198" y="1086485"/>
                    <a:pt x="360658" y="1074420"/>
                    <a:pt x="356213" y="1045210"/>
                  </a:cubicBezTo>
                  <a:cubicBezTo>
                    <a:pt x="351768" y="1016000"/>
                    <a:pt x="351768" y="997585"/>
                    <a:pt x="349228" y="968375"/>
                  </a:cubicBezTo>
                  <a:cubicBezTo>
                    <a:pt x="346688" y="939165"/>
                    <a:pt x="344783" y="925830"/>
                    <a:pt x="342243" y="897890"/>
                  </a:cubicBezTo>
                  <a:cubicBezTo>
                    <a:pt x="339703" y="869950"/>
                    <a:pt x="337798" y="855980"/>
                    <a:pt x="335258" y="828040"/>
                  </a:cubicBezTo>
                  <a:cubicBezTo>
                    <a:pt x="332718" y="800100"/>
                    <a:pt x="332718" y="786765"/>
                    <a:pt x="328273" y="757555"/>
                  </a:cubicBezTo>
                  <a:cubicBezTo>
                    <a:pt x="323828" y="728345"/>
                    <a:pt x="318748" y="709930"/>
                    <a:pt x="314303" y="680720"/>
                  </a:cubicBezTo>
                  <a:cubicBezTo>
                    <a:pt x="309858" y="651510"/>
                    <a:pt x="309858" y="638175"/>
                    <a:pt x="307318" y="610235"/>
                  </a:cubicBezTo>
                  <a:cubicBezTo>
                    <a:pt x="304778" y="582295"/>
                    <a:pt x="304778" y="568325"/>
                    <a:pt x="300333" y="540385"/>
                  </a:cubicBezTo>
                  <a:cubicBezTo>
                    <a:pt x="295888" y="512445"/>
                    <a:pt x="290808" y="497840"/>
                    <a:pt x="286363" y="469900"/>
                  </a:cubicBezTo>
                  <a:cubicBezTo>
                    <a:pt x="281918" y="441960"/>
                    <a:pt x="285093" y="429260"/>
                    <a:pt x="279378" y="400050"/>
                  </a:cubicBezTo>
                  <a:cubicBezTo>
                    <a:pt x="273663" y="370840"/>
                    <a:pt x="266043" y="351790"/>
                    <a:pt x="257788" y="322580"/>
                  </a:cubicBezTo>
                  <a:cubicBezTo>
                    <a:pt x="249533" y="293370"/>
                    <a:pt x="245088" y="280670"/>
                    <a:pt x="236833" y="252730"/>
                  </a:cubicBezTo>
                  <a:cubicBezTo>
                    <a:pt x="228578" y="224790"/>
                    <a:pt x="221593" y="210185"/>
                    <a:pt x="215878" y="182245"/>
                  </a:cubicBezTo>
                  <a:cubicBezTo>
                    <a:pt x="210163" y="154305"/>
                    <a:pt x="218418" y="140335"/>
                    <a:pt x="208893" y="112395"/>
                  </a:cubicBezTo>
                  <a:cubicBezTo>
                    <a:pt x="199368" y="84455"/>
                    <a:pt x="175238" y="54610"/>
                    <a:pt x="166983" y="41910"/>
                  </a:cubicBezTo>
                </a:path>
              </a:pathLst>
            </a:custGeom>
            <a:noFill/>
            <a:ln w="254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H="1">
              <a:off x="10482" y="2971"/>
              <a:ext cx="1038" cy="1546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20"/>
            <p:cNvSpPr txBox="1"/>
            <p:nvPr/>
          </p:nvSpPr>
          <p:spPr>
            <a:xfrm>
              <a:off x="11520" y="2341"/>
              <a:ext cx="3839" cy="1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/>
                <a:t>expS=exp(stableS)</a:t>
              </a:r>
              <a:r>
                <a:rPr lang="zh-CN" altLang="en-US" sz="1000"/>
                <a:t>的</a:t>
              </a:r>
              <a:r>
                <a:rPr lang="en-US" altLang="zh-CN" sz="1000"/>
                <a:t>expBackward</a:t>
              </a:r>
              <a:r>
                <a:rPr lang="zh-CN" altLang="en-US" sz="1000"/>
                <a:t>给</a:t>
              </a:r>
              <a:r>
                <a:rPr lang="en-US" altLang="zh-CN" sz="1000"/>
                <a:t>dstableS</a:t>
              </a:r>
              <a:r>
                <a:rPr lang="zh-CN" altLang="en-US" sz="1000"/>
                <a:t>分配的空间，</a:t>
              </a:r>
              <a:r>
                <a:rPr lang="zh-CN" altLang="en-US" sz="1000" b="1">
                  <a:solidFill>
                    <a:srgbClr val="00B0F0"/>
                  </a:solidFill>
                </a:rPr>
                <a:t>这个空间大小中装的值在</a:t>
              </a:r>
              <a:r>
                <a:rPr lang="en-US" altLang="zh-CN" sz="1000" b="1">
                  <a:solidFill>
                    <a:srgbClr val="00B0F0"/>
                  </a:solidFill>
                </a:rPr>
                <a:t>subBackward</a:t>
              </a:r>
              <a:r>
                <a:rPr lang="zh-CN" altLang="en-US" sz="1000" b="1">
                  <a:solidFill>
                    <a:srgbClr val="00B0F0"/>
                  </a:solidFill>
                </a:rPr>
                <a:t>之后不变，在</a:t>
              </a:r>
              <a:r>
                <a:rPr lang="en-US" altLang="zh-CN" sz="1000" b="1">
                  <a:solidFill>
                    <a:srgbClr val="00B0F0"/>
                  </a:solidFill>
                </a:rPr>
                <a:t>maxBackward</a:t>
              </a:r>
              <a:r>
                <a:rPr lang="zh-CN" altLang="en-US" sz="1000" b="1">
                  <a:solidFill>
                    <a:srgbClr val="00B0F0"/>
                  </a:solidFill>
                </a:rPr>
                <a:t>之后改变，转化为</a:t>
              </a:r>
              <a:r>
                <a:rPr lang="en-US" altLang="zh-CN" sz="1000" b="1">
                  <a:solidFill>
                    <a:srgbClr val="00B0F0"/>
                  </a:solidFill>
                </a:rPr>
                <a:t>dmaskedS=&gt;dscaledS</a:t>
              </a:r>
              <a:r>
                <a:rPr lang="zh-CN" altLang="en-US" sz="1000" b="1">
                  <a:solidFill>
                    <a:srgbClr val="00B0F0"/>
                  </a:solidFill>
                </a:rPr>
                <a:t>的</a:t>
              </a:r>
              <a:r>
                <a:rPr lang="en-US" altLang="zh-CN" sz="1000" b="1">
                  <a:solidFill>
                    <a:srgbClr val="00B0F0"/>
                  </a:solidFill>
                </a:rPr>
                <a:t>Value</a:t>
              </a:r>
              <a:endParaRPr lang="en-US" altLang="zh-CN" sz="1000" b="1">
                <a:solidFill>
                  <a:srgbClr val="00B0F0"/>
                </a:solidFill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2369" y="2971"/>
              <a:ext cx="291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/>
                <a:t>P=expS/sum(expS)</a:t>
              </a:r>
              <a:r>
                <a:rPr lang="zh-CN" altLang="en-US" sz="1000"/>
                <a:t>为</a:t>
              </a:r>
              <a:r>
                <a:rPr lang="en-US" altLang="zh-CN" sz="1000"/>
                <a:t>P</a:t>
              </a:r>
              <a:r>
                <a:rPr lang="zh-CN" altLang="en-US" sz="1000"/>
                <a:t>分配的</a:t>
              </a:r>
              <a:r>
                <a:rPr lang="en-US" altLang="zh-CN" sz="1000"/>
                <a:t>space</a:t>
              </a:r>
              <a:r>
                <a:rPr lang="zh-CN" altLang="en-US" sz="1000"/>
                <a:t>。开始</a:t>
              </a:r>
              <a:r>
                <a:rPr lang="en-US" altLang="zh-CN" sz="1000"/>
                <a:t>backward</a:t>
              </a:r>
              <a:r>
                <a:rPr lang="zh-CN" altLang="en-US" sz="1000"/>
                <a:t>后收回</a:t>
              </a:r>
              <a:endParaRPr lang="zh-CN" altLang="en-US" sz="1000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4763" y="3521"/>
              <a:ext cx="2642" cy="24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Box 23"/>
            <p:cNvSpPr txBox="1"/>
            <p:nvPr/>
          </p:nvSpPr>
          <p:spPr>
            <a:xfrm>
              <a:off x="3285" y="2432"/>
              <a:ext cx="293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/>
                <a:t>A=PV</a:t>
              </a:r>
              <a:r>
                <a:rPr lang="zh-CN" altLang="en-US" sz="1000"/>
                <a:t>为</a:t>
              </a:r>
              <a:r>
                <a:rPr lang="en-US" altLang="zh-CN" sz="1000"/>
                <a:t>A</a:t>
              </a:r>
              <a:r>
                <a:rPr lang="zh-CN" altLang="en-US" sz="1000"/>
                <a:t>分配的小空间</a:t>
              </a:r>
              <a:endParaRPr lang="zh-CN" altLang="en-US" sz="1000"/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6421" y="2202"/>
              <a:ext cx="1918" cy="3310"/>
            </a:xfrm>
            <a:prstGeom prst="straightConnector1">
              <a:avLst/>
            </a:prstGeom>
            <a:ln w="9525">
              <a:solidFill>
                <a:srgbClr val="FF8D4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 Box 26"/>
            <p:cNvSpPr txBox="1"/>
            <p:nvPr/>
          </p:nvSpPr>
          <p:spPr>
            <a:xfrm>
              <a:off x="4578" y="1660"/>
              <a:ext cx="269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/>
                <a:t>A=PV</a:t>
              </a:r>
              <a:r>
                <a:rPr lang="zh-CN" altLang="en-US" sz="1000"/>
                <a:t>对应的</a:t>
              </a:r>
              <a:r>
                <a:rPr lang="en-US" altLang="zh-CN" sz="1000"/>
                <a:t>bmmBackward</a:t>
              </a:r>
              <a:r>
                <a:rPr lang="zh-CN" altLang="en-US" sz="1000"/>
                <a:t>为</a:t>
              </a:r>
              <a:r>
                <a:rPr lang="en-US" altLang="zh-CN" sz="1000"/>
                <a:t>dV</a:t>
              </a:r>
              <a:r>
                <a:rPr lang="zh-CN" altLang="en-US" sz="1000"/>
                <a:t>分配的小空间</a:t>
              </a:r>
              <a:endParaRPr lang="zh-CN" altLang="en-US" sz="1000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8246" y="5486"/>
              <a:ext cx="244" cy="161"/>
            </a:xfrm>
            <a:custGeom>
              <a:avLst/>
              <a:gdLst>
                <a:gd name="connisteX0" fmla="*/ 85387 w 155078"/>
                <a:gd name="connsiteY0" fmla="*/ 23547 h 102169"/>
                <a:gd name="connisteX1" fmla="*/ 14267 w 155078"/>
                <a:gd name="connsiteY1" fmla="*/ 11482 h 102169"/>
                <a:gd name="connisteX2" fmla="*/ 7917 w 155078"/>
                <a:gd name="connsiteY2" fmla="*/ 77522 h 102169"/>
                <a:gd name="connisteX3" fmla="*/ 79672 w 155078"/>
                <a:gd name="connsiteY3" fmla="*/ 95302 h 102169"/>
                <a:gd name="connisteX4" fmla="*/ 145077 w 155078"/>
                <a:gd name="connsiteY4" fmla="*/ 95302 h 102169"/>
                <a:gd name="connisteX5" fmla="*/ 145077 w 155078"/>
                <a:gd name="connsiteY5" fmla="*/ 29897 h 102169"/>
                <a:gd name="connisteX6" fmla="*/ 79672 w 155078"/>
                <a:gd name="connsiteY6" fmla="*/ 52 h 102169"/>
                <a:gd name="connisteX7" fmla="*/ 85387 w 155078"/>
                <a:gd name="connsiteY7" fmla="*/ 23547 h 10216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</a:cxnLst>
              <a:rect l="l" t="t" r="r" b="b"/>
              <a:pathLst>
                <a:path w="155079" h="102170">
                  <a:moveTo>
                    <a:pt x="85387" y="23547"/>
                  </a:moveTo>
                  <a:cubicBezTo>
                    <a:pt x="72052" y="26087"/>
                    <a:pt x="29507" y="687"/>
                    <a:pt x="14267" y="11482"/>
                  </a:cubicBezTo>
                  <a:cubicBezTo>
                    <a:pt x="-973" y="22277"/>
                    <a:pt x="-5418" y="61012"/>
                    <a:pt x="7917" y="77522"/>
                  </a:cubicBezTo>
                  <a:cubicBezTo>
                    <a:pt x="21252" y="94032"/>
                    <a:pt x="52367" y="91492"/>
                    <a:pt x="79672" y="95302"/>
                  </a:cubicBezTo>
                  <a:cubicBezTo>
                    <a:pt x="106977" y="99112"/>
                    <a:pt x="131742" y="108637"/>
                    <a:pt x="145077" y="95302"/>
                  </a:cubicBezTo>
                  <a:cubicBezTo>
                    <a:pt x="158412" y="81967"/>
                    <a:pt x="158412" y="48947"/>
                    <a:pt x="145077" y="29897"/>
                  </a:cubicBezTo>
                  <a:cubicBezTo>
                    <a:pt x="131742" y="10847"/>
                    <a:pt x="91737" y="1322"/>
                    <a:pt x="79672" y="52"/>
                  </a:cubicBezTo>
                  <a:cubicBezTo>
                    <a:pt x="67607" y="-1218"/>
                    <a:pt x="98722" y="21007"/>
                    <a:pt x="85387" y="23547"/>
                  </a:cubicBezTo>
                  <a:close/>
                </a:path>
              </a:pathLst>
            </a:custGeom>
            <a:noFill/>
            <a:ln w="22225">
              <a:solidFill>
                <a:srgbClr val="FF8D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7821" y="4407"/>
              <a:ext cx="337" cy="249"/>
            </a:xfrm>
            <a:custGeom>
              <a:avLst/>
              <a:gdLst>
                <a:gd name="connisteX0" fmla="*/ 88524 w 214005"/>
                <a:gd name="connsiteY0" fmla="*/ 12414 h 157894"/>
                <a:gd name="connisteX1" fmla="*/ 17404 w 214005"/>
                <a:gd name="connsiteY1" fmla="*/ 12414 h 157894"/>
                <a:gd name="connisteX2" fmla="*/ 5339 w 214005"/>
                <a:gd name="connsiteY2" fmla="*/ 77819 h 157894"/>
                <a:gd name="connisteX3" fmla="*/ 70744 w 214005"/>
                <a:gd name="connsiteY3" fmla="*/ 113379 h 157894"/>
                <a:gd name="connisteX4" fmla="*/ 136149 w 214005"/>
                <a:gd name="connsiteY4" fmla="*/ 137509 h 157894"/>
                <a:gd name="connisteX5" fmla="*/ 201554 w 214005"/>
                <a:gd name="connsiteY5" fmla="*/ 155289 h 157894"/>
                <a:gd name="connisteX6" fmla="*/ 207904 w 214005"/>
                <a:gd name="connsiteY6" fmla="*/ 89884 h 157894"/>
                <a:gd name="connisteX7" fmla="*/ 153929 w 214005"/>
                <a:gd name="connsiteY7" fmla="*/ 24479 h 157894"/>
                <a:gd name="connisteX8" fmla="*/ 88524 w 214005"/>
                <a:gd name="connsiteY8" fmla="*/ 349 h 157894"/>
                <a:gd name="connisteX9" fmla="*/ 88524 w 214005"/>
                <a:gd name="connsiteY9" fmla="*/ 12414 h 15789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</a:cxnLst>
              <a:rect l="l" t="t" r="r" b="b"/>
              <a:pathLst>
                <a:path w="214005" h="157894">
                  <a:moveTo>
                    <a:pt x="88525" y="12414"/>
                  </a:moveTo>
                  <a:cubicBezTo>
                    <a:pt x="74555" y="14954"/>
                    <a:pt x="33915" y="-921"/>
                    <a:pt x="17405" y="12414"/>
                  </a:cubicBezTo>
                  <a:cubicBezTo>
                    <a:pt x="895" y="25749"/>
                    <a:pt x="-5455" y="57499"/>
                    <a:pt x="5340" y="77819"/>
                  </a:cubicBezTo>
                  <a:cubicBezTo>
                    <a:pt x="16135" y="98139"/>
                    <a:pt x="44710" y="101314"/>
                    <a:pt x="70745" y="113379"/>
                  </a:cubicBezTo>
                  <a:cubicBezTo>
                    <a:pt x="96780" y="125444"/>
                    <a:pt x="110115" y="129254"/>
                    <a:pt x="136150" y="137509"/>
                  </a:cubicBezTo>
                  <a:cubicBezTo>
                    <a:pt x="162185" y="145764"/>
                    <a:pt x="186950" y="164814"/>
                    <a:pt x="201555" y="155289"/>
                  </a:cubicBezTo>
                  <a:cubicBezTo>
                    <a:pt x="216160" y="145764"/>
                    <a:pt x="217430" y="115919"/>
                    <a:pt x="207905" y="89884"/>
                  </a:cubicBezTo>
                  <a:cubicBezTo>
                    <a:pt x="198380" y="63849"/>
                    <a:pt x="178060" y="42259"/>
                    <a:pt x="153930" y="24479"/>
                  </a:cubicBezTo>
                  <a:cubicBezTo>
                    <a:pt x="129800" y="6699"/>
                    <a:pt x="101860" y="2889"/>
                    <a:pt x="88525" y="349"/>
                  </a:cubicBezTo>
                  <a:cubicBezTo>
                    <a:pt x="75190" y="-2191"/>
                    <a:pt x="102495" y="9874"/>
                    <a:pt x="88525" y="12414"/>
                  </a:cubicBezTo>
                  <a:close/>
                </a:path>
              </a:pathLst>
            </a:cu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5933" y="2691"/>
              <a:ext cx="2189" cy="1763"/>
            </a:xfrm>
            <a:custGeom>
              <a:avLst/>
              <a:gdLst>
                <a:gd name="connisteX0" fmla="*/ 0 w 1389721"/>
                <a:gd name="connsiteY0" fmla="*/ 0 h 1119505"/>
                <a:gd name="connisteX1" fmla="*/ 1280160 w 1389721"/>
                <a:gd name="connsiteY1" fmla="*/ 303530 h 1119505"/>
                <a:gd name="connisteX2" fmla="*/ 1268095 w 1389721"/>
                <a:gd name="connsiteY2" fmla="*/ 1119505 h 1119505"/>
                <a:gd name="connisteX3" fmla="*/ 1280160 w 1389721"/>
                <a:gd name="connsiteY3" fmla="*/ 1107440 h 111950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389722" h="1119505">
                  <a:moveTo>
                    <a:pt x="0" y="0"/>
                  </a:moveTo>
                  <a:cubicBezTo>
                    <a:pt x="256540" y="44450"/>
                    <a:pt x="1026795" y="79375"/>
                    <a:pt x="1280160" y="303530"/>
                  </a:cubicBezTo>
                  <a:cubicBezTo>
                    <a:pt x="1533525" y="527685"/>
                    <a:pt x="1268095" y="958850"/>
                    <a:pt x="1268095" y="1119505"/>
                  </a:cubicBezTo>
                </a:path>
              </a:pathLst>
            </a:custGeom>
            <a:noFill/>
            <a:ln w="6350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3" name="Text Box 32"/>
            <p:cNvSpPr txBox="1"/>
            <p:nvPr/>
          </p:nvSpPr>
          <p:spPr>
            <a:xfrm>
              <a:off x="4419" y="7192"/>
              <a:ext cx="125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为</a:t>
              </a:r>
              <a:r>
                <a:rPr lang="en-US" sz="1000"/>
                <a:t>S</a:t>
              </a:r>
              <a:r>
                <a:rPr lang="zh-CN" altLang="en-US" sz="1000"/>
                <a:t>分配的</a:t>
              </a:r>
              <a:r>
                <a:rPr lang="en-US" altLang="zh-CN" sz="1000"/>
                <a:t>space</a:t>
              </a:r>
              <a:endParaRPr lang="en-US" altLang="zh-CN" sz="1000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V="1">
              <a:off x="5446" y="6225"/>
              <a:ext cx="365" cy="3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 Box 34"/>
            <p:cNvSpPr txBox="1"/>
            <p:nvPr/>
          </p:nvSpPr>
          <p:spPr>
            <a:xfrm>
              <a:off x="4123" y="6292"/>
              <a:ext cx="155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为</a:t>
              </a:r>
              <a:r>
                <a:rPr lang="en-US" altLang="zh-CN" sz="1000"/>
                <a:t>scaled</a:t>
              </a:r>
              <a:r>
                <a:rPr lang="en-US" sz="1000"/>
                <a:t>S</a:t>
              </a:r>
              <a:r>
                <a:rPr lang="zh-CN" altLang="en-US" sz="1000"/>
                <a:t>分配的</a:t>
              </a:r>
              <a:r>
                <a:rPr lang="en-US" altLang="zh-CN" sz="1000"/>
                <a:t>space</a:t>
              </a:r>
              <a:endParaRPr lang="en-US" altLang="zh-CN" sz="1000"/>
            </a:p>
          </p:txBody>
        </p:sp>
        <p:sp>
          <p:nvSpPr>
            <p:cNvPr id="36" name="Text Box 35"/>
            <p:cNvSpPr txBox="1"/>
            <p:nvPr/>
          </p:nvSpPr>
          <p:spPr>
            <a:xfrm>
              <a:off x="4123" y="5237"/>
              <a:ext cx="16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mask</a:t>
              </a:r>
              <a:r>
                <a:rPr lang="zh-CN" altLang="en-US" sz="1000"/>
                <a:t>的小</a:t>
              </a:r>
              <a:r>
                <a:rPr lang="en-US" altLang="zh-CN" sz="1000"/>
                <a:t>space</a:t>
              </a:r>
              <a:endParaRPr lang="en-US" altLang="zh-CN" sz="1000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5708" y="5174"/>
              <a:ext cx="1116" cy="64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 Box 37"/>
            <p:cNvSpPr txBox="1"/>
            <p:nvPr/>
          </p:nvSpPr>
          <p:spPr>
            <a:xfrm>
              <a:off x="4716" y="4850"/>
              <a:ext cx="115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masked</a:t>
              </a:r>
              <a:r>
                <a:rPr lang="en-US" sz="1200"/>
                <a:t>S</a:t>
              </a:r>
              <a:endParaRPr lang="en-US" altLang="zh-CN" sz="1200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5596" y="5474"/>
              <a:ext cx="815" cy="10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9" idx="101"/>
            </p:cNvCxnSpPr>
            <p:nvPr/>
          </p:nvCxnSpPr>
          <p:spPr>
            <a:xfrm>
              <a:off x="4236" y="4546"/>
              <a:ext cx="2756" cy="11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6158" y="5000"/>
              <a:ext cx="1116" cy="64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 Box 41"/>
            <p:cNvSpPr txBox="1"/>
            <p:nvPr/>
          </p:nvSpPr>
          <p:spPr>
            <a:xfrm>
              <a:off x="5334" y="4597"/>
              <a:ext cx="115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stable</a:t>
              </a:r>
              <a:r>
                <a:rPr lang="en-US" sz="1200"/>
                <a:t>S</a:t>
              </a:r>
              <a:endParaRPr lang="en-US" altLang="zh-CN" sz="1200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8325" y="4504"/>
              <a:ext cx="1687" cy="1984"/>
            </a:xfrm>
            <a:custGeom>
              <a:avLst/>
              <a:gdLst>
                <a:gd name="connisteX0" fmla="*/ 28927 w 1070964"/>
                <a:gd name="connsiteY0" fmla="*/ 8205 h 1259740"/>
                <a:gd name="connisteX1" fmla="*/ 11147 w 1070964"/>
                <a:gd name="connsiteY1" fmla="*/ 74245 h 1259740"/>
                <a:gd name="connisteX2" fmla="*/ 4797 w 1070964"/>
                <a:gd name="connsiteY2" fmla="*/ 139650 h 1259740"/>
                <a:gd name="connisteX3" fmla="*/ 4797 w 1070964"/>
                <a:gd name="connsiteY3" fmla="*/ 217120 h 1259740"/>
                <a:gd name="connisteX4" fmla="*/ 4797 w 1070964"/>
                <a:gd name="connsiteY4" fmla="*/ 288240 h 1259740"/>
                <a:gd name="connisteX5" fmla="*/ 4797 w 1070964"/>
                <a:gd name="connsiteY5" fmla="*/ 359995 h 1259740"/>
                <a:gd name="connisteX6" fmla="*/ 4797 w 1070964"/>
                <a:gd name="connsiteY6" fmla="*/ 425400 h 1259740"/>
                <a:gd name="connisteX7" fmla="*/ 58772 w 1070964"/>
                <a:gd name="connsiteY7" fmla="*/ 496520 h 1259740"/>
                <a:gd name="connisteX8" fmla="*/ 100047 w 1070964"/>
                <a:gd name="connsiteY8" fmla="*/ 561925 h 1259740"/>
                <a:gd name="connisteX9" fmla="*/ 100047 w 1070964"/>
                <a:gd name="connsiteY9" fmla="*/ 627330 h 1259740"/>
                <a:gd name="connisteX10" fmla="*/ 100047 w 1070964"/>
                <a:gd name="connsiteY10" fmla="*/ 693370 h 1259740"/>
                <a:gd name="connisteX11" fmla="*/ 106397 w 1070964"/>
                <a:gd name="connsiteY11" fmla="*/ 758775 h 1259740"/>
                <a:gd name="connisteX12" fmla="*/ 106397 w 1070964"/>
                <a:gd name="connsiteY12" fmla="*/ 824180 h 1259740"/>
                <a:gd name="connisteX13" fmla="*/ 124177 w 1070964"/>
                <a:gd name="connsiteY13" fmla="*/ 895300 h 1259740"/>
                <a:gd name="connisteX14" fmla="*/ 129892 w 1070964"/>
                <a:gd name="connsiteY14" fmla="*/ 967055 h 1259740"/>
                <a:gd name="connisteX15" fmla="*/ 147672 w 1070964"/>
                <a:gd name="connsiteY15" fmla="*/ 1038175 h 1259740"/>
                <a:gd name="connisteX16" fmla="*/ 165452 w 1070964"/>
                <a:gd name="connsiteY16" fmla="*/ 1109930 h 1259740"/>
                <a:gd name="connisteX17" fmla="*/ 230857 w 1070964"/>
                <a:gd name="connsiteY17" fmla="*/ 1175335 h 1259740"/>
                <a:gd name="connisteX18" fmla="*/ 296897 w 1070964"/>
                <a:gd name="connsiteY18" fmla="*/ 1198830 h 1259740"/>
                <a:gd name="connisteX19" fmla="*/ 373732 w 1070964"/>
                <a:gd name="connsiteY19" fmla="*/ 1252805 h 1259740"/>
                <a:gd name="connisteX20" fmla="*/ 445487 w 1070964"/>
                <a:gd name="connsiteY20" fmla="*/ 1258520 h 1259740"/>
                <a:gd name="connisteX21" fmla="*/ 516607 w 1070964"/>
                <a:gd name="connsiteY21" fmla="*/ 1258520 h 1259740"/>
                <a:gd name="connisteX22" fmla="*/ 588362 w 1070964"/>
                <a:gd name="connsiteY22" fmla="*/ 1258520 h 1259740"/>
                <a:gd name="connisteX23" fmla="*/ 653767 w 1070964"/>
                <a:gd name="connsiteY23" fmla="*/ 1258520 h 1259740"/>
                <a:gd name="connisteX24" fmla="*/ 725522 w 1070964"/>
                <a:gd name="connsiteY24" fmla="*/ 1258520 h 1259740"/>
                <a:gd name="connisteX25" fmla="*/ 790927 w 1070964"/>
                <a:gd name="connsiteY25" fmla="*/ 1258520 h 1259740"/>
                <a:gd name="connisteX26" fmla="*/ 856332 w 1070964"/>
                <a:gd name="connsiteY26" fmla="*/ 1252805 h 1259740"/>
                <a:gd name="connisteX27" fmla="*/ 927452 w 1070964"/>
                <a:gd name="connsiteY27" fmla="*/ 1235025 h 1259740"/>
                <a:gd name="connisteX28" fmla="*/ 992857 w 1070964"/>
                <a:gd name="connsiteY28" fmla="*/ 1222960 h 1259740"/>
                <a:gd name="connisteX29" fmla="*/ 1046832 w 1070964"/>
                <a:gd name="connsiteY29" fmla="*/ 1157555 h 1259740"/>
                <a:gd name="connisteX30" fmla="*/ 1058897 w 1070964"/>
                <a:gd name="connsiteY30" fmla="*/ 1085800 h 1259740"/>
                <a:gd name="connisteX31" fmla="*/ 1058897 w 1070964"/>
                <a:gd name="connsiteY31" fmla="*/ 1008330 h 1259740"/>
                <a:gd name="connisteX32" fmla="*/ 1058897 w 1070964"/>
                <a:gd name="connsiteY32" fmla="*/ 937210 h 1259740"/>
                <a:gd name="connisteX33" fmla="*/ 1064612 w 1070964"/>
                <a:gd name="connsiteY33" fmla="*/ 871805 h 1259740"/>
                <a:gd name="connisteX34" fmla="*/ 1070327 w 1070964"/>
                <a:gd name="connsiteY34" fmla="*/ 806400 h 1259740"/>
                <a:gd name="connisteX35" fmla="*/ 1052547 w 1070964"/>
                <a:gd name="connsiteY35" fmla="*/ 740995 h 1259740"/>
                <a:gd name="connisteX36" fmla="*/ 981427 w 1070964"/>
                <a:gd name="connsiteY36" fmla="*/ 722580 h 1259740"/>
                <a:gd name="connisteX37" fmla="*/ 909672 w 1070964"/>
                <a:gd name="connsiteY37" fmla="*/ 722580 h 1259740"/>
                <a:gd name="connisteX38" fmla="*/ 832202 w 1070964"/>
                <a:gd name="connsiteY38" fmla="*/ 722580 h 1259740"/>
                <a:gd name="connisteX39" fmla="*/ 766797 w 1070964"/>
                <a:gd name="connsiteY39" fmla="*/ 722580 h 1259740"/>
                <a:gd name="connisteX40" fmla="*/ 701392 w 1070964"/>
                <a:gd name="connsiteY40" fmla="*/ 722580 h 1259740"/>
                <a:gd name="connisteX41" fmla="*/ 630272 w 1070964"/>
                <a:gd name="connsiteY41" fmla="*/ 722580 h 1259740"/>
                <a:gd name="connisteX42" fmla="*/ 558517 w 1070964"/>
                <a:gd name="connsiteY42" fmla="*/ 722580 h 1259740"/>
                <a:gd name="connisteX43" fmla="*/ 487397 w 1070964"/>
                <a:gd name="connsiteY43" fmla="*/ 722580 h 1259740"/>
                <a:gd name="connisteX44" fmla="*/ 415642 w 1070964"/>
                <a:gd name="connsiteY44" fmla="*/ 722580 h 1259740"/>
                <a:gd name="connisteX45" fmla="*/ 350237 w 1070964"/>
                <a:gd name="connsiteY45" fmla="*/ 711150 h 1259740"/>
                <a:gd name="connisteX46" fmla="*/ 284832 w 1070964"/>
                <a:gd name="connsiteY46" fmla="*/ 681305 h 1259740"/>
                <a:gd name="connisteX47" fmla="*/ 219427 w 1070964"/>
                <a:gd name="connsiteY47" fmla="*/ 645745 h 1259740"/>
                <a:gd name="connisteX48" fmla="*/ 195297 w 1070964"/>
                <a:gd name="connsiteY48" fmla="*/ 579705 h 1259740"/>
                <a:gd name="connisteX49" fmla="*/ 195297 w 1070964"/>
                <a:gd name="connsiteY49" fmla="*/ 514300 h 1259740"/>
                <a:gd name="connisteX50" fmla="*/ 195297 w 1070964"/>
                <a:gd name="connsiteY50" fmla="*/ 448895 h 1259740"/>
                <a:gd name="connisteX51" fmla="*/ 195297 w 1070964"/>
                <a:gd name="connsiteY51" fmla="*/ 383490 h 1259740"/>
                <a:gd name="connisteX52" fmla="*/ 189582 w 1070964"/>
                <a:gd name="connsiteY52" fmla="*/ 318085 h 1259740"/>
                <a:gd name="connisteX53" fmla="*/ 171802 w 1070964"/>
                <a:gd name="connsiteY53" fmla="*/ 246330 h 1259740"/>
                <a:gd name="connisteX54" fmla="*/ 159737 w 1070964"/>
                <a:gd name="connsiteY54" fmla="*/ 180925 h 1259740"/>
                <a:gd name="connisteX55" fmla="*/ 154022 w 1070964"/>
                <a:gd name="connsiteY55" fmla="*/ 115520 h 1259740"/>
                <a:gd name="connisteX56" fmla="*/ 112112 w 1070964"/>
                <a:gd name="connsiteY56" fmla="*/ 50115 h 1259740"/>
                <a:gd name="connisteX57" fmla="*/ 40357 w 1070964"/>
                <a:gd name="connsiteY57" fmla="*/ 8205 h 1259740"/>
                <a:gd name="connisteX58" fmla="*/ 28927 w 1070964"/>
                <a:gd name="connsiteY58" fmla="*/ 8205 h 12597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</a:cxnLst>
              <a:rect l="l" t="t" r="r" b="b"/>
              <a:pathLst>
                <a:path w="1070964" h="1259740">
                  <a:moveTo>
                    <a:pt x="28928" y="8205"/>
                  </a:moveTo>
                  <a:cubicBezTo>
                    <a:pt x="23213" y="21540"/>
                    <a:pt x="16228" y="48210"/>
                    <a:pt x="11148" y="74245"/>
                  </a:cubicBezTo>
                  <a:cubicBezTo>
                    <a:pt x="6068" y="100280"/>
                    <a:pt x="6068" y="111075"/>
                    <a:pt x="4798" y="139650"/>
                  </a:cubicBezTo>
                  <a:cubicBezTo>
                    <a:pt x="3528" y="168225"/>
                    <a:pt x="4798" y="187275"/>
                    <a:pt x="4798" y="217120"/>
                  </a:cubicBezTo>
                  <a:cubicBezTo>
                    <a:pt x="4798" y="246965"/>
                    <a:pt x="4798" y="259665"/>
                    <a:pt x="4798" y="288240"/>
                  </a:cubicBezTo>
                  <a:cubicBezTo>
                    <a:pt x="4798" y="316815"/>
                    <a:pt x="4798" y="332690"/>
                    <a:pt x="4798" y="359995"/>
                  </a:cubicBezTo>
                  <a:cubicBezTo>
                    <a:pt x="4798" y="387300"/>
                    <a:pt x="-5997" y="398095"/>
                    <a:pt x="4798" y="425400"/>
                  </a:cubicBezTo>
                  <a:cubicBezTo>
                    <a:pt x="15593" y="452705"/>
                    <a:pt x="39723" y="469215"/>
                    <a:pt x="58773" y="496520"/>
                  </a:cubicBezTo>
                  <a:cubicBezTo>
                    <a:pt x="77823" y="523825"/>
                    <a:pt x="91793" y="535890"/>
                    <a:pt x="100048" y="561925"/>
                  </a:cubicBezTo>
                  <a:cubicBezTo>
                    <a:pt x="108303" y="587960"/>
                    <a:pt x="100048" y="601295"/>
                    <a:pt x="100048" y="627330"/>
                  </a:cubicBezTo>
                  <a:cubicBezTo>
                    <a:pt x="100048" y="653365"/>
                    <a:pt x="98778" y="667335"/>
                    <a:pt x="100048" y="693370"/>
                  </a:cubicBezTo>
                  <a:cubicBezTo>
                    <a:pt x="101318" y="719405"/>
                    <a:pt x="105128" y="732740"/>
                    <a:pt x="106398" y="758775"/>
                  </a:cubicBezTo>
                  <a:cubicBezTo>
                    <a:pt x="107668" y="784810"/>
                    <a:pt x="102588" y="796875"/>
                    <a:pt x="106398" y="824180"/>
                  </a:cubicBezTo>
                  <a:cubicBezTo>
                    <a:pt x="110208" y="851485"/>
                    <a:pt x="119733" y="866725"/>
                    <a:pt x="124178" y="895300"/>
                  </a:cubicBezTo>
                  <a:cubicBezTo>
                    <a:pt x="128623" y="923875"/>
                    <a:pt x="125448" y="938480"/>
                    <a:pt x="129893" y="967055"/>
                  </a:cubicBezTo>
                  <a:cubicBezTo>
                    <a:pt x="134338" y="995630"/>
                    <a:pt x="140688" y="1009600"/>
                    <a:pt x="147673" y="1038175"/>
                  </a:cubicBezTo>
                  <a:cubicBezTo>
                    <a:pt x="154658" y="1066750"/>
                    <a:pt x="148943" y="1082625"/>
                    <a:pt x="165453" y="1109930"/>
                  </a:cubicBezTo>
                  <a:cubicBezTo>
                    <a:pt x="181963" y="1137235"/>
                    <a:pt x="204823" y="1157555"/>
                    <a:pt x="230858" y="1175335"/>
                  </a:cubicBezTo>
                  <a:cubicBezTo>
                    <a:pt x="256893" y="1193115"/>
                    <a:pt x="268323" y="1183590"/>
                    <a:pt x="296898" y="1198830"/>
                  </a:cubicBezTo>
                  <a:cubicBezTo>
                    <a:pt x="325473" y="1214070"/>
                    <a:pt x="343888" y="1240740"/>
                    <a:pt x="373733" y="1252805"/>
                  </a:cubicBezTo>
                  <a:cubicBezTo>
                    <a:pt x="403578" y="1264870"/>
                    <a:pt x="416913" y="1257250"/>
                    <a:pt x="445488" y="1258520"/>
                  </a:cubicBezTo>
                  <a:cubicBezTo>
                    <a:pt x="474063" y="1259790"/>
                    <a:pt x="488033" y="1258520"/>
                    <a:pt x="516608" y="1258520"/>
                  </a:cubicBezTo>
                  <a:cubicBezTo>
                    <a:pt x="545183" y="1258520"/>
                    <a:pt x="561058" y="1258520"/>
                    <a:pt x="588363" y="1258520"/>
                  </a:cubicBezTo>
                  <a:cubicBezTo>
                    <a:pt x="615668" y="1258520"/>
                    <a:pt x="626463" y="1258520"/>
                    <a:pt x="653768" y="1258520"/>
                  </a:cubicBezTo>
                  <a:cubicBezTo>
                    <a:pt x="681073" y="1258520"/>
                    <a:pt x="698218" y="1258520"/>
                    <a:pt x="725523" y="1258520"/>
                  </a:cubicBezTo>
                  <a:cubicBezTo>
                    <a:pt x="752828" y="1258520"/>
                    <a:pt x="764893" y="1259790"/>
                    <a:pt x="790928" y="1258520"/>
                  </a:cubicBezTo>
                  <a:cubicBezTo>
                    <a:pt x="816963" y="1257250"/>
                    <a:pt x="829028" y="1257250"/>
                    <a:pt x="856333" y="1252805"/>
                  </a:cubicBezTo>
                  <a:cubicBezTo>
                    <a:pt x="883638" y="1248360"/>
                    <a:pt x="900148" y="1240740"/>
                    <a:pt x="927453" y="1235025"/>
                  </a:cubicBezTo>
                  <a:cubicBezTo>
                    <a:pt x="954758" y="1229310"/>
                    <a:pt x="968728" y="1238200"/>
                    <a:pt x="992858" y="1222960"/>
                  </a:cubicBezTo>
                  <a:cubicBezTo>
                    <a:pt x="1016988" y="1207720"/>
                    <a:pt x="1033498" y="1184860"/>
                    <a:pt x="1046833" y="1157555"/>
                  </a:cubicBezTo>
                  <a:cubicBezTo>
                    <a:pt x="1060168" y="1130250"/>
                    <a:pt x="1056358" y="1115645"/>
                    <a:pt x="1058898" y="1085800"/>
                  </a:cubicBezTo>
                  <a:cubicBezTo>
                    <a:pt x="1061438" y="1055955"/>
                    <a:pt x="1058898" y="1038175"/>
                    <a:pt x="1058898" y="1008330"/>
                  </a:cubicBezTo>
                  <a:cubicBezTo>
                    <a:pt x="1058898" y="978485"/>
                    <a:pt x="1057628" y="964515"/>
                    <a:pt x="1058898" y="937210"/>
                  </a:cubicBezTo>
                  <a:cubicBezTo>
                    <a:pt x="1060168" y="909905"/>
                    <a:pt x="1062073" y="897840"/>
                    <a:pt x="1064613" y="871805"/>
                  </a:cubicBezTo>
                  <a:cubicBezTo>
                    <a:pt x="1067153" y="845770"/>
                    <a:pt x="1072868" y="832435"/>
                    <a:pt x="1070328" y="806400"/>
                  </a:cubicBezTo>
                  <a:cubicBezTo>
                    <a:pt x="1067788" y="780365"/>
                    <a:pt x="1070328" y="757505"/>
                    <a:pt x="1052548" y="740995"/>
                  </a:cubicBezTo>
                  <a:cubicBezTo>
                    <a:pt x="1034768" y="724485"/>
                    <a:pt x="1010003" y="726390"/>
                    <a:pt x="981428" y="722580"/>
                  </a:cubicBezTo>
                  <a:cubicBezTo>
                    <a:pt x="952853" y="718770"/>
                    <a:pt x="939518" y="722580"/>
                    <a:pt x="909673" y="722580"/>
                  </a:cubicBezTo>
                  <a:cubicBezTo>
                    <a:pt x="879828" y="722580"/>
                    <a:pt x="860778" y="722580"/>
                    <a:pt x="832203" y="722580"/>
                  </a:cubicBezTo>
                  <a:cubicBezTo>
                    <a:pt x="803628" y="722580"/>
                    <a:pt x="792833" y="722580"/>
                    <a:pt x="766798" y="722580"/>
                  </a:cubicBezTo>
                  <a:cubicBezTo>
                    <a:pt x="740763" y="722580"/>
                    <a:pt x="728698" y="722580"/>
                    <a:pt x="701393" y="722580"/>
                  </a:cubicBezTo>
                  <a:cubicBezTo>
                    <a:pt x="674088" y="722580"/>
                    <a:pt x="658848" y="722580"/>
                    <a:pt x="630273" y="722580"/>
                  </a:cubicBezTo>
                  <a:cubicBezTo>
                    <a:pt x="601698" y="722580"/>
                    <a:pt x="587093" y="722580"/>
                    <a:pt x="558518" y="722580"/>
                  </a:cubicBezTo>
                  <a:cubicBezTo>
                    <a:pt x="529943" y="722580"/>
                    <a:pt x="515973" y="722580"/>
                    <a:pt x="487398" y="722580"/>
                  </a:cubicBezTo>
                  <a:cubicBezTo>
                    <a:pt x="458823" y="722580"/>
                    <a:pt x="442948" y="725120"/>
                    <a:pt x="415643" y="722580"/>
                  </a:cubicBezTo>
                  <a:cubicBezTo>
                    <a:pt x="388338" y="720040"/>
                    <a:pt x="376273" y="719405"/>
                    <a:pt x="350238" y="711150"/>
                  </a:cubicBezTo>
                  <a:cubicBezTo>
                    <a:pt x="324203" y="702895"/>
                    <a:pt x="310868" y="694640"/>
                    <a:pt x="284833" y="681305"/>
                  </a:cubicBezTo>
                  <a:cubicBezTo>
                    <a:pt x="258798" y="667970"/>
                    <a:pt x="237208" y="666065"/>
                    <a:pt x="219428" y="645745"/>
                  </a:cubicBezTo>
                  <a:cubicBezTo>
                    <a:pt x="201648" y="625425"/>
                    <a:pt x="200378" y="605740"/>
                    <a:pt x="195298" y="579705"/>
                  </a:cubicBezTo>
                  <a:cubicBezTo>
                    <a:pt x="190218" y="553670"/>
                    <a:pt x="195298" y="540335"/>
                    <a:pt x="195298" y="514300"/>
                  </a:cubicBezTo>
                  <a:cubicBezTo>
                    <a:pt x="195298" y="488265"/>
                    <a:pt x="195298" y="474930"/>
                    <a:pt x="195298" y="448895"/>
                  </a:cubicBezTo>
                  <a:cubicBezTo>
                    <a:pt x="195298" y="422860"/>
                    <a:pt x="196568" y="409525"/>
                    <a:pt x="195298" y="383490"/>
                  </a:cubicBezTo>
                  <a:cubicBezTo>
                    <a:pt x="194028" y="357455"/>
                    <a:pt x="194028" y="345390"/>
                    <a:pt x="189583" y="318085"/>
                  </a:cubicBezTo>
                  <a:cubicBezTo>
                    <a:pt x="185138" y="290780"/>
                    <a:pt x="177518" y="273635"/>
                    <a:pt x="171803" y="246330"/>
                  </a:cubicBezTo>
                  <a:cubicBezTo>
                    <a:pt x="166088" y="219025"/>
                    <a:pt x="163548" y="206960"/>
                    <a:pt x="159738" y="180925"/>
                  </a:cubicBezTo>
                  <a:cubicBezTo>
                    <a:pt x="155928" y="154890"/>
                    <a:pt x="163548" y="141555"/>
                    <a:pt x="154023" y="115520"/>
                  </a:cubicBezTo>
                  <a:cubicBezTo>
                    <a:pt x="144498" y="89485"/>
                    <a:pt x="134973" y="71705"/>
                    <a:pt x="112113" y="50115"/>
                  </a:cubicBezTo>
                  <a:cubicBezTo>
                    <a:pt x="89253" y="28525"/>
                    <a:pt x="56868" y="16460"/>
                    <a:pt x="40358" y="8205"/>
                  </a:cubicBezTo>
                  <a:cubicBezTo>
                    <a:pt x="23848" y="-50"/>
                    <a:pt x="34643" y="-5130"/>
                    <a:pt x="28928" y="8205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4" name="Text Box 43"/>
            <p:cNvSpPr txBox="1"/>
            <p:nvPr/>
          </p:nvSpPr>
          <p:spPr>
            <a:xfrm>
              <a:off x="6721" y="1043"/>
              <a:ext cx="253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/>
                <a:t>A=PV</a:t>
              </a:r>
              <a:r>
                <a:rPr lang="zh-CN" altLang="en-US" sz="1000"/>
                <a:t>对应</a:t>
              </a:r>
              <a:r>
                <a:rPr lang="en-US" altLang="zh-CN" sz="1000"/>
                <a:t>bmmBackward</a:t>
              </a:r>
              <a:r>
                <a:rPr lang="zh-CN" altLang="en-US" sz="1000"/>
                <a:t>为</a:t>
              </a:r>
              <a:r>
                <a:rPr lang="en-US" altLang="zh-CN" sz="1000"/>
                <a:t>dP</a:t>
              </a:r>
              <a:r>
                <a:rPr lang="zh-CN" altLang="en-US" sz="1000"/>
                <a:t>分配的空间</a:t>
              </a:r>
              <a:endParaRPr lang="zh-CN" altLang="en-US" sz="1000"/>
            </a:p>
          </p:txBody>
        </p:sp>
        <p:cxnSp>
          <p:nvCxnSpPr>
            <p:cNvPr id="45" name="Straight Arrow Connector 44"/>
            <p:cNvCxnSpPr>
              <a:stCxn id="44" idx="2"/>
              <a:endCxn id="43" idx="57"/>
            </p:cNvCxnSpPr>
            <p:nvPr/>
          </p:nvCxnSpPr>
          <p:spPr>
            <a:xfrm>
              <a:off x="7990" y="1671"/>
              <a:ext cx="399" cy="284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reeform 45"/>
            <p:cNvSpPr/>
            <p:nvPr/>
          </p:nvSpPr>
          <p:spPr>
            <a:xfrm>
              <a:off x="8509" y="1535"/>
              <a:ext cx="1947" cy="4907"/>
            </a:xfrm>
            <a:custGeom>
              <a:avLst/>
              <a:gdLst>
                <a:gd name="connisteX0" fmla="*/ 340853 w 1236510"/>
                <a:gd name="connsiteY0" fmla="*/ 72272 h 3115893"/>
                <a:gd name="connisteX1" fmla="*/ 269098 w 1236510"/>
                <a:gd name="connsiteY1" fmla="*/ 24647 h 3115893"/>
                <a:gd name="connisteX2" fmla="*/ 173848 w 1236510"/>
                <a:gd name="connsiteY2" fmla="*/ 6867 h 3115893"/>
                <a:gd name="connisteX3" fmla="*/ 108443 w 1236510"/>
                <a:gd name="connsiteY3" fmla="*/ 6867 h 3115893"/>
                <a:gd name="connisteX4" fmla="*/ 72883 w 1236510"/>
                <a:gd name="connsiteY4" fmla="*/ 72272 h 3115893"/>
                <a:gd name="connisteX5" fmla="*/ 72883 w 1236510"/>
                <a:gd name="connsiteY5" fmla="*/ 143392 h 3115893"/>
                <a:gd name="connisteX6" fmla="*/ 72883 w 1236510"/>
                <a:gd name="connsiteY6" fmla="*/ 215147 h 3115893"/>
                <a:gd name="connisteX7" fmla="*/ 78598 w 1236510"/>
                <a:gd name="connsiteY7" fmla="*/ 280552 h 3115893"/>
                <a:gd name="connisteX8" fmla="*/ 78598 w 1236510"/>
                <a:gd name="connsiteY8" fmla="*/ 351672 h 3115893"/>
                <a:gd name="connisteX9" fmla="*/ 78598 w 1236510"/>
                <a:gd name="connsiteY9" fmla="*/ 423427 h 3115893"/>
                <a:gd name="connisteX10" fmla="*/ 66533 w 1236510"/>
                <a:gd name="connsiteY10" fmla="*/ 488832 h 3115893"/>
                <a:gd name="connisteX11" fmla="*/ 55103 w 1236510"/>
                <a:gd name="connsiteY11" fmla="*/ 566302 h 3115893"/>
                <a:gd name="connisteX12" fmla="*/ 37323 w 1236510"/>
                <a:gd name="connsiteY12" fmla="*/ 643772 h 3115893"/>
                <a:gd name="connisteX13" fmla="*/ 18908 w 1236510"/>
                <a:gd name="connsiteY13" fmla="*/ 709177 h 3115893"/>
                <a:gd name="connisteX14" fmla="*/ 18908 w 1236510"/>
                <a:gd name="connsiteY14" fmla="*/ 774582 h 3115893"/>
                <a:gd name="connisteX15" fmla="*/ 7478 w 1236510"/>
                <a:gd name="connsiteY15" fmla="*/ 839987 h 3115893"/>
                <a:gd name="connisteX16" fmla="*/ 1128 w 1236510"/>
                <a:gd name="connsiteY16" fmla="*/ 911742 h 3115893"/>
                <a:gd name="connisteX17" fmla="*/ 1128 w 1236510"/>
                <a:gd name="connsiteY17" fmla="*/ 982862 h 3115893"/>
                <a:gd name="connisteX18" fmla="*/ 1128 w 1236510"/>
                <a:gd name="connsiteY18" fmla="*/ 1048267 h 3115893"/>
                <a:gd name="connisteX19" fmla="*/ 1128 w 1236510"/>
                <a:gd name="connsiteY19" fmla="*/ 1113672 h 3115893"/>
                <a:gd name="connisteX20" fmla="*/ 13193 w 1236510"/>
                <a:gd name="connsiteY20" fmla="*/ 1185427 h 3115893"/>
                <a:gd name="connisteX21" fmla="*/ 30973 w 1236510"/>
                <a:gd name="connsiteY21" fmla="*/ 1262897 h 3115893"/>
                <a:gd name="connisteX22" fmla="*/ 37323 w 1236510"/>
                <a:gd name="connsiteY22" fmla="*/ 1328302 h 3115893"/>
                <a:gd name="connisteX23" fmla="*/ 43038 w 1236510"/>
                <a:gd name="connsiteY23" fmla="*/ 1393707 h 3115893"/>
                <a:gd name="connisteX24" fmla="*/ 43038 w 1236510"/>
                <a:gd name="connsiteY24" fmla="*/ 1459112 h 3115893"/>
                <a:gd name="connisteX25" fmla="*/ 43038 w 1236510"/>
                <a:gd name="connsiteY25" fmla="*/ 1536582 h 3115893"/>
                <a:gd name="connisteX26" fmla="*/ 43038 w 1236510"/>
                <a:gd name="connsiteY26" fmla="*/ 1601987 h 3115893"/>
                <a:gd name="connisteX27" fmla="*/ 43038 w 1236510"/>
                <a:gd name="connsiteY27" fmla="*/ 1667392 h 3115893"/>
                <a:gd name="connisteX28" fmla="*/ 43038 w 1236510"/>
                <a:gd name="connsiteY28" fmla="*/ 1739147 h 3115893"/>
                <a:gd name="connisteX29" fmla="*/ 60818 w 1236510"/>
                <a:gd name="connsiteY29" fmla="*/ 1804552 h 3115893"/>
                <a:gd name="connisteX30" fmla="*/ 72883 w 1236510"/>
                <a:gd name="connsiteY30" fmla="*/ 1869957 h 3115893"/>
                <a:gd name="connisteX31" fmla="*/ 84948 w 1236510"/>
                <a:gd name="connsiteY31" fmla="*/ 1941077 h 3115893"/>
                <a:gd name="connisteX32" fmla="*/ 90663 w 1236510"/>
                <a:gd name="connsiteY32" fmla="*/ 2012832 h 3115893"/>
                <a:gd name="connisteX33" fmla="*/ 120508 w 1236510"/>
                <a:gd name="connsiteY33" fmla="*/ 2083952 h 3115893"/>
                <a:gd name="connisteX34" fmla="*/ 120508 w 1236510"/>
                <a:gd name="connsiteY34" fmla="*/ 2149992 h 3115893"/>
                <a:gd name="connisteX35" fmla="*/ 120508 w 1236510"/>
                <a:gd name="connsiteY35" fmla="*/ 2215397 h 3115893"/>
                <a:gd name="connisteX36" fmla="*/ 120508 w 1236510"/>
                <a:gd name="connsiteY36" fmla="*/ 2292867 h 3115893"/>
                <a:gd name="connisteX37" fmla="*/ 120508 w 1236510"/>
                <a:gd name="connsiteY37" fmla="*/ 2358272 h 3115893"/>
                <a:gd name="connisteX38" fmla="*/ 120508 w 1236510"/>
                <a:gd name="connsiteY38" fmla="*/ 2429392 h 3115893"/>
                <a:gd name="connisteX39" fmla="*/ 191628 w 1236510"/>
                <a:gd name="connsiteY39" fmla="*/ 2489082 h 3115893"/>
                <a:gd name="connisteX40" fmla="*/ 257033 w 1236510"/>
                <a:gd name="connsiteY40" fmla="*/ 2494797 h 3115893"/>
                <a:gd name="connisteX41" fmla="*/ 323073 w 1236510"/>
                <a:gd name="connsiteY41" fmla="*/ 2501147 h 3115893"/>
                <a:gd name="connisteX42" fmla="*/ 394193 w 1236510"/>
                <a:gd name="connsiteY42" fmla="*/ 2501147 h 3115893"/>
                <a:gd name="connisteX43" fmla="*/ 465948 w 1236510"/>
                <a:gd name="connsiteY43" fmla="*/ 2501147 h 3115893"/>
                <a:gd name="connisteX44" fmla="*/ 531353 w 1236510"/>
                <a:gd name="connsiteY44" fmla="*/ 2501147 h 3115893"/>
                <a:gd name="connisteX45" fmla="*/ 608823 w 1236510"/>
                <a:gd name="connsiteY45" fmla="*/ 2501147 h 3115893"/>
                <a:gd name="connisteX46" fmla="*/ 674228 w 1236510"/>
                <a:gd name="connsiteY46" fmla="*/ 2501147 h 3115893"/>
                <a:gd name="connisteX47" fmla="*/ 739633 w 1236510"/>
                <a:gd name="connsiteY47" fmla="*/ 2506862 h 3115893"/>
                <a:gd name="connisteX48" fmla="*/ 805038 w 1236510"/>
                <a:gd name="connsiteY48" fmla="*/ 2542422 h 3115893"/>
                <a:gd name="connisteX49" fmla="*/ 870443 w 1236510"/>
                <a:gd name="connsiteY49" fmla="*/ 2572267 h 3115893"/>
                <a:gd name="connisteX50" fmla="*/ 942198 w 1236510"/>
                <a:gd name="connsiteY50" fmla="*/ 2607827 h 3115893"/>
                <a:gd name="connisteX51" fmla="*/ 983473 w 1236510"/>
                <a:gd name="connsiteY51" fmla="*/ 2673867 h 3115893"/>
                <a:gd name="connisteX52" fmla="*/ 995538 w 1236510"/>
                <a:gd name="connsiteY52" fmla="*/ 2739272 h 3115893"/>
                <a:gd name="connisteX53" fmla="*/ 1001253 w 1236510"/>
                <a:gd name="connsiteY53" fmla="*/ 2804677 h 3115893"/>
                <a:gd name="connisteX54" fmla="*/ 1001253 w 1236510"/>
                <a:gd name="connsiteY54" fmla="*/ 2870082 h 3115893"/>
                <a:gd name="connisteX55" fmla="*/ 1001253 w 1236510"/>
                <a:gd name="connsiteY55" fmla="*/ 2935487 h 3115893"/>
                <a:gd name="connisteX56" fmla="*/ 1001253 w 1236510"/>
                <a:gd name="connsiteY56" fmla="*/ 3000892 h 3115893"/>
                <a:gd name="connisteX57" fmla="*/ 1019033 w 1236510"/>
                <a:gd name="connsiteY57" fmla="*/ 3066297 h 3115893"/>
                <a:gd name="connisteX58" fmla="*/ 1090788 w 1236510"/>
                <a:gd name="connsiteY58" fmla="*/ 3108207 h 3115893"/>
                <a:gd name="connisteX59" fmla="*/ 1156193 w 1236510"/>
                <a:gd name="connsiteY59" fmla="*/ 3108207 h 3115893"/>
                <a:gd name="connisteX60" fmla="*/ 1221598 w 1236510"/>
                <a:gd name="connsiteY60" fmla="*/ 3048517 h 3115893"/>
                <a:gd name="connisteX61" fmla="*/ 1227948 w 1236510"/>
                <a:gd name="connsiteY61" fmla="*/ 2983112 h 3115893"/>
                <a:gd name="connisteX62" fmla="*/ 1227948 w 1236510"/>
                <a:gd name="connsiteY62" fmla="*/ 2917707 h 3115893"/>
                <a:gd name="connisteX63" fmla="*/ 1227948 w 1236510"/>
                <a:gd name="connsiteY63" fmla="*/ 2852302 h 3115893"/>
                <a:gd name="connisteX64" fmla="*/ 1233663 w 1236510"/>
                <a:gd name="connsiteY64" fmla="*/ 2786897 h 3115893"/>
                <a:gd name="connisteX65" fmla="*/ 1233663 w 1236510"/>
                <a:gd name="connsiteY65" fmla="*/ 2715142 h 3115893"/>
                <a:gd name="connisteX66" fmla="*/ 1203818 w 1236510"/>
                <a:gd name="connsiteY66" fmla="*/ 2649737 h 3115893"/>
                <a:gd name="connisteX67" fmla="*/ 1156193 w 1236510"/>
                <a:gd name="connsiteY67" fmla="*/ 2584332 h 3115893"/>
                <a:gd name="connisteX68" fmla="*/ 1108568 w 1236510"/>
                <a:gd name="connsiteY68" fmla="*/ 2518927 h 3115893"/>
                <a:gd name="connisteX69" fmla="*/ 1078723 w 1236510"/>
                <a:gd name="connsiteY69" fmla="*/ 2453522 h 3115893"/>
                <a:gd name="connisteX70" fmla="*/ 1060943 w 1236510"/>
                <a:gd name="connsiteY70" fmla="*/ 2381767 h 3115893"/>
                <a:gd name="connisteX71" fmla="*/ 1055228 w 1236510"/>
                <a:gd name="connsiteY71" fmla="*/ 2316362 h 3115893"/>
                <a:gd name="connisteX72" fmla="*/ 1043163 w 1236510"/>
                <a:gd name="connsiteY72" fmla="*/ 2250957 h 3115893"/>
                <a:gd name="connisteX73" fmla="*/ 1037448 w 1236510"/>
                <a:gd name="connsiteY73" fmla="*/ 2185552 h 3115893"/>
                <a:gd name="connisteX74" fmla="*/ 1025383 w 1236510"/>
                <a:gd name="connsiteY74" fmla="*/ 2120147 h 3115893"/>
                <a:gd name="connisteX75" fmla="*/ 1019033 w 1236510"/>
                <a:gd name="connsiteY75" fmla="*/ 2054742 h 3115893"/>
                <a:gd name="connisteX76" fmla="*/ 1019033 w 1236510"/>
                <a:gd name="connsiteY76" fmla="*/ 1988702 h 3115893"/>
                <a:gd name="connisteX77" fmla="*/ 1013318 w 1236510"/>
                <a:gd name="connsiteY77" fmla="*/ 1923297 h 3115893"/>
                <a:gd name="connisteX78" fmla="*/ 1013318 w 1236510"/>
                <a:gd name="connsiteY78" fmla="*/ 1857892 h 3115893"/>
                <a:gd name="connisteX79" fmla="*/ 1001253 w 1236510"/>
                <a:gd name="connsiteY79" fmla="*/ 1786772 h 3115893"/>
                <a:gd name="connisteX80" fmla="*/ 1001253 w 1236510"/>
                <a:gd name="connsiteY80" fmla="*/ 1721367 h 3115893"/>
                <a:gd name="connisteX81" fmla="*/ 989823 w 1236510"/>
                <a:gd name="connsiteY81" fmla="*/ 1649612 h 3115893"/>
                <a:gd name="connisteX82" fmla="*/ 983473 w 1236510"/>
                <a:gd name="connsiteY82" fmla="*/ 1584207 h 3115893"/>
                <a:gd name="connisteX83" fmla="*/ 977758 w 1236510"/>
                <a:gd name="connsiteY83" fmla="*/ 1518802 h 3115893"/>
                <a:gd name="connisteX84" fmla="*/ 965693 w 1236510"/>
                <a:gd name="connsiteY84" fmla="*/ 1441332 h 3115893"/>
                <a:gd name="connisteX85" fmla="*/ 965693 w 1236510"/>
                <a:gd name="connsiteY85" fmla="*/ 1375927 h 3115893"/>
                <a:gd name="connisteX86" fmla="*/ 947913 w 1236510"/>
                <a:gd name="connsiteY86" fmla="*/ 1304172 h 3115893"/>
                <a:gd name="connisteX87" fmla="*/ 942198 w 1236510"/>
                <a:gd name="connsiteY87" fmla="*/ 1233052 h 3115893"/>
                <a:gd name="connisteX88" fmla="*/ 912353 w 1236510"/>
                <a:gd name="connsiteY88" fmla="*/ 1167647 h 3115893"/>
                <a:gd name="connisteX89" fmla="*/ 840598 w 1236510"/>
                <a:gd name="connsiteY89" fmla="*/ 1131452 h 3115893"/>
                <a:gd name="connisteX90" fmla="*/ 775193 w 1236510"/>
                <a:gd name="connsiteY90" fmla="*/ 1107957 h 3115893"/>
                <a:gd name="connisteX91" fmla="*/ 709788 w 1236510"/>
                <a:gd name="connsiteY91" fmla="*/ 1078112 h 3115893"/>
                <a:gd name="connisteX92" fmla="*/ 679943 w 1236510"/>
                <a:gd name="connsiteY92" fmla="*/ 1012707 h 3115893"/>
                <a:gd name="connisteX93" fmla="*/ 656448 w 1236510"/>
                <a:gd name="connsiteY93" fmla="*/ 947302 h 3115893"/>
                <a:gd name="connisteX94" fmla="*/ 632318 w 1236510"/>
                <a:gd name="connsiteY94" fmla="*/ 875547 h 3115893"/>
                <a:gd name="connisteX95" fmla="*/ 614538 w 1236510"/>
                <a:gd name="connsiteY95" fmla="*/ 810142 h 3115893"/>
                <a:gd name="connisteX96" fmla="*/ 602473 w 1236510"/>
                <a:gd name="connsiteY96" fmla="*/ 739022 h 3115893"/>
                <a:gd name="connisteX97" fmla="*/ 602473 w 1236510"/>
                <a:gd name="connsiteY97" fmla="*/ 673617 h 3115893"/>
                <a:gd name="connisteX98" fmla="*/ 596758 w 1236510"/>
                <a:gd name="connsiteY98" fmla="*/ 589797 h 3115893"/>
                <a:gd name="connisteX99" fmla="*/ 584693 w 1236510"/>
                <a:gd name="connsiteY99" fmla="*/ 512327 h 3115893"/>
                <a:gd name="connisteX100" fmla="*/ 584693 w 1236510"/>
                <a:gd name="connsiteY100" fmla="*/ 446922 h 3115893"/>
                <a:gd name="connisteX101" fmla="*/ 572628 w 1236510"/>
                <a:gd name="connsiteY101" fmla="*/ 381517 h 3115893"/>
                <a:gd name="connisteX102" fmla="*/ 525003 w 1236510"/>
                <a:gd name="connsiteY102" fmla="*/ 310397 h 3115893"/>
                <a:gd name="connisteX103" fmla="*/ 489443 w 1236510"/>
                <a:gd name="connsiteY103" fmla="*/ 232927 h 3115893"/>
                <a:gd name="connisteX104" fmla="*/ 471663 w 1236510"/>
                <a:gd name="connsiteY104" fmla="*/ 161172 h 3115893"/>
                <a:gd name="connisteX105" fmla="*/ 436103 w 1236510"/>
                <a:gd name="connsiteY105" fmla="*/ 95767 h 3115893"/>
                <a:gd name="connisteX106" fmla="*/ 364348 w 1236510"/>
                <a:gd name="connsiteY106" fmla="*/ 65922 h 3115893"/>
                <a:gd name="connisteX107" fmla="*/ 340853 w 1236510"/>
                <a:gd name="connsiteY107" fmla="*/ 72272 h 311589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  <a:cxn ang="0">
                  <a:pos x="connisteX62" y="connsiteY62"/>
                </a:cxn>
                <a:cxn ang="0">
                  <a:pos x="connisteX63" y="connsiteY63"/>
                </a:cxn>
                <a:cxn ang="0">
                  <a:pos x="connisteX64" y="connsiteY64"/>
                </a:cxn>
                <a:cxn ang="0">
                  <a:pos x="connisteX65" y="connsiteY65"/>
                </a:cxn>
                <a:cxn ang="0">
                  <a:pos x="connisteX66" y="connsiteY66"/>
                </a:cxn>
                <a:cxn ang="0">
                  <a:pos x="connisteX67" y="connsiteY67"/>
                </a:cxn>
                <a:cxn ang="0">
                  <a:pos x="connisteX68" y="connsiteY68"/>
                </a:cxn>
                <a:cxn ang="0">
                  <a:pos x="connisteX69" y="connsiteY69"/>
                </a:cxn>
                <a:cxn ang="0">
                  <a:pos x="connisteX70" y="connsiteY70"/>
                </a:cxn>
                <a:cxn ang="0">
                  <a:pos x="connisteX71" y="connsiteY71"/>
                </a:cxn>
                <a:cxn ang="0">
                  <a:pos x="connisteX72" y="connsiteY72"/>
                </a:cxn>
                <a:cxn ang="0">
                  <a:pos x="connisteX73" y="connsiteY73"/>
                </a:cxn>
                <a:cxn ang="0">
                  <a:pos x="connisteX74" y="connsiteY74"/>
                </a:cxn>
                <a:cxn ang="0">
                  <a:pos x="connisteX75" y="connsiteY75"/>
                </a:cxn>
                <a:cxn ang="0">
                  <a:pos x="connisteX76" y="connsiteY76"/>
                </a:cxn>
                <a:cxn ang="0">
                  <a:pos x="connisteX77" y="connsiteY77"/>
                </a:cxn>
                <a:cxn ang="0">
                  <a:pos x="connisteX78" y="connsiteY78"/>
                </a:cxn>
                <a:cxn ang="0">
                  <a:pos x="connisteX79" y="connsiteY79"/>
                </a:cxn>
                <a:cxn ang="0">
                  <a:pos x="connisteX80" y="connsiteY80"/>
                </a:cxn>
                <a:cxn ang="0">
                  <a:pos x="connisteX81" y="connsiteY81"/>
                </a:cxn>
                <a:cxn ang="0">
                  <a:pos x="connisteX82" y="connsiteY82"/>
                </a:cxn>
                <a:cxn ang="0">
                  <a:pos x="connisteX83" y="connsiteY83"/>
                </a:cxn>
                <a:cxn ang="0">
                  <a:pos x="connisteX84" y="connsiteY84"/>
                </a:cxn>
                <a:cxn ang="0">
                  <a:pos x="connisteX85" y="connsiteY85"/>
                </a:cxn>
                <a:cxn ang="0">
                  <a:pos x="connisteX86" y="connsiteY86"/>
                </a:cxn>
                <a:cxn ang="0">
                  <a:pos x="connisteX87" y="connsiteY87"/>
                </a:cxn>
                <a:cxn ang="0">
                  <a:pos x="connisteX88" y="connsiteY88"/>
                </a:cxn>
                <a:cxn ang="0">
                  <a:pos x="connisteX89" y="connsiteY89"/>
                </a:cxn>
                <a:cxn ang="0">
                  <a:pos x="connisteX90" y="connsiteY90"/>
                </a:cxn>
                <a:cxn ang="0">
                  <a:pos x="connisteX91" y="connsiteY91"/>
                </a:cxn>
                <a:cxn ang="0">
                  <a:pos x="connisteX92" y="connsiteY92"/>
                </a:cxn>
                <a:cxn ang="0">
                  <a:pos x="connisteX93" y="connsiteY93"/>
                </a:cxn>
                <a:cxn ang="0">
                  <a:pos x="connisteX94" y="connsiteY94"/>
                </a:cxn>
                <a:cxn ang="0">
                  <a:pos x="connisteX95" y="connsiteY95"/>
                </a:cxn>
                <a:cxn ang="0">
                  <a:pos x="connisteX96" y="connsiteY96"/>
                </a:cxn>
                <a:cxn ang="0">
                  <a:pos x="connisteX97" y="connsiteY97"/>
                </a:cxn>
                <a:cxn ang="0">
                  <a:pos x="connisteX98" y="connsiteY98"/>
                </a:cxn>
                <a:cxn ang="0">
                  <a:pos x="connisteX99" y="connsiteY99"/>
                </a:cxn>
                <a:cxn ang="0">
                  <a:pos x="connisteX100" y="connsiteY100"/>
                </a:cxn>
                <a:cxn ang="0">
                  <a:pos x="connisteX101" y="connsiteY101"/>
                </a:cxn>
                <a:cxn ang="0">
                  <a:pos x="connisteX102" y="connsiteY102"/>
                </a:cxn>
                <a:cxn ang="0">
                  <a:pos x="connisteX103" y="connsiteY103"/>
                </a:cxn>
                <a:cxn ang="0">
                  <a:pos x="connisteX104" y="connsiteY104"/>
                </a:cxn>
                <a:cxn ang="0">
                  <a:pos x="connisteX105" y="connsiteY105"/>
                </a:cxn>
                <a:cxn ang="0">
                  <a:pos x="connisteX106" y="connsiteY106"/>
                </a:cxn>
                <a:cxn ang="0">
                  <a:pos x="connisteX107" y="connsiteY107"/>
                </a:cxn>
              </a:cxnLst>
              <a:rect l="l" t="t" r="r" b="b"/>
              <a:pathLst>
                <a:path w="1236510" h="3115893">
                  <a:moveTo>
                    <a:pt x="340854" y="72272"/>
                  </a:moveTo>
                  <a:cubicBezTo>
                    <a:pt x="321804" y="64017"/>
                    <a:pt x="302754" y="37982"/>
                    <a:pt x="269099" y="24647"/>
                  </a:cubicBezTo>
                  <a:cubicBezTo>
                    <a:pt x="235444" y="11312"/>
                    <a:pt x="206234" y="10677"/>
                    <a:pt x="173849" y="6867"/>
                  </a:cubicBezTo>
                  <a:cubicBezTo>
                    <a:pt x="141464" y="3057"/>
                    <a:pt x="128764" y="-6468"/>
                    <a:pt x="108444" y="6867"/>
                  </a:cubicBezTo>
                  <a:cubicBezTo>
                    <a:pt x="88124" y="20202"/>
                    <a:pt x="79869" y="44967"/>
                    <a:pt x="72884" y="72272"/>
                  </a:cubicBezTo>
                  <a:cubicBezTo>
                    <a:pt x="65899" y="99577"/>
                    <a:pt x="72884" y="114817"/>
                    <a:pt x="72884" y="143392"/>
                  </a:cubicBezTo>
                  <a:cubicBezTo>
                    <a:pt x="72884" y="171967"/>
                    <a:pt x="71614" y="187842"/>
                    <a:pt x="72884" y="215147"/>
                  </a:cubicBezTo>
                  <a:cubicBezTo>
                    <a:pt x="74154" y="242452"/>
                    <a:pt x="77329" y="253247"/>
                    <a:pt x="78599" y="280552"/>
                  </a:cubicBezTo>
                  <a:cubicBezTo>
                    <a:pt x="79869" y="307857"/>
                    <a:pt x="78599" y="323097"/>
                    <a:pt x="78599" y="351672"/>
                  </a:cubicBezTo>
                  <a:cubicBezTo>
                    <a:pt x="78599" y="380247"/>
                    <a:pt x="81139" y="396122"/>
                    <a:pt x="78599" y="423427"/>
                  </a:cubicBezTo>
                  <a:cubicBezTo>
                    <a:pt x="76059" y="450732"/>
                    <a:pt x="70979" y="460257"/>
                    <a:pt x="66534" y="488832"/>
                  </a:cubicBezTo>
                  <a:cubicBezTo>
                    <a:pt x="62089" y="517407"/>
                    <a:pt x="60819" y="535187"/>
                    <a:pt x="55104" y="566302"/>
                  </a:cubicBezTo>
                  <a:cubicBezTo>
                    <a:pt x="49389" y="597417"/>
                    <a:pt x="44309" y="615197"/>
                    <a:pt x="37324" y="643772"/>
                  </a:cubicBezTo>
                  <a:cubicBezTo>
                    <a:pt x="30339" y="672347"/>
                    <a:pt x="22719" y="683142"/>
                    <a:pt x="18909" y="709177"/>
                  </a:cubicBezTo>
                  <a:cubicBezTo>
                    <a:pt x="15099" y="735212"/>
                    <a:pt x="21449" y="748547"/>
                    <a:pt x="18909" y="774582"/>
                  </a:cubicBezTo>
                  <a:cubicBezTo>
                    <a:pt x="16369" y="800617"/>
                    <a:pt x="11289" y="812682"/>
                    <a:pt x="7479" y="839987"/>
                  </a:cubicBezTo>
                  <a:cubicBezTo>
                    <a:pt x="3669" y="867292"/>
                    <a:pt x="2399" y="883167"/>
                    <a:pt x="1129" y="911742"/>
                  </a:cubicBezTo>
                  <a:cubicBezTo>
                    <a:pt x="-141" y="940317"/>
                    <a:pt x="1129" y="955557"/>
                    <a:pt x="1129" y="982862"/>
                  </a:cubicBezTo>
                  <a:cubicBezTo>
                    <a:pt x="1129" y="1010167"/>
                    <a:pt x="1129" y="1022232"/>
                    <a:pt x="1129" y="1048267"/>
                  </a:cubicBezTo>
                  <a:cubicBezTo>
                    <a:pt x="1129" y="1074302"/>
                    <a:pt x="-1411" y="1086367"/>
                    <a:pt x="1129" y="1113672"/>
                  </a:cubicBezTo>
                  <a:cubicBezTo>
                    <a:pt x="3669" y="1140977"/>
                    <a:pt x="7479" y="1155582"/>
                    <a:pt x="13194" y="1185427"/>
                  </a:cubicBezTo>
                  <a:cubicBezTo>
                    <a:pt x="18909" y="1215272"/>
                    <a:pt x="25894" y="1234322"/>
                    <a:pt x="30974" y="1262897"/>
                  </a:cubicBezTo>
                  <a:cubicBezTo>
                    <a:pt x="36054" y="1291472"/>
                    <a:pt x="34784" y="1302267"/>
                    <a:pt x="37324" y="1328302"/>
                  </a:cubicBezTo>
                  <a:cubicBezTo>
                    <a:pt x="39864" y="1354337"/>
                    <a:pt x="41769" y="1367672"/>
                    <a:pt x="43039" y="1393707"/>
                  </a:cubicBezTo>
                  <a:cubicBezTo>
                    <a:pt x="44309" y="1419742"/>
                    <a:pt x="43039" y="1430537"/>
                    <a:pt x="43039" y="1459112"/>
                  </a:cubicBezTo>
                  <a:cubicBezTo>
                    <a:pt x="43039" y="1487687"/>
                    <a:pt x="43039" y="1508007"/>
                    <a:pt x="43039" y="1536582"/>
                  </a:cubicBezTo>
                  <a:cubicBezTo>
                    <a:pt x="43039" y="1565157"/>
                    <a:pt x="43039" y="1575952"/>
                    <a:pt x="43039" y="1601987"/>
                  </a:cubicBezTo>
                  <a:cubicBezTo>
                    <a:pt x="43039" y="1628022"/>
                    <a:pt x="43039" y="1640087"/>
                    <a:pt x="43039" y="1667392"/>
                  </a:cubicBezTo>
                  <a:cubicBezTo>
                    <a:pt x="43039" y="1694697"/>
                    <a:pt x="39229" y="1711842"/>
                    <a:pt x="43039" y="1739147"/>
                  </a:cubicBezTo>
                  <a:cubicBezTo>
                    <a:pt x="46849" y="1766452"/>
                    <a:pt x="55104" y="1778517"/>
                    <a:pt x="60819" y="1804552"/>
                  </a:cubicBezTo>
                  <a:cubicBezTo>
                    <a:pt x="66534" y="1830587"/>
                    <a:pt x="67804" y="1842652"/>
                    <a:pt x="72884" y="1869957"/>
                  </a:cubicBezTo>
                  <a:cubicBezTo>
                    <a:pt x="77964" y="1897262"/>
                    <a:pt x="81139" y="1912502"/>
                    <a:pt x="84949" y="1941077"/>
                  </a:cubicBezTo>
                  <a:cubicBezTo>
                    <a:pt x="88759" y="1969652"/>
                    <a:pt x="83679" y="1984257"/>
                    <a:pt x="90664" y="2012832"/>
                  </a:cubicBezTo>
                  <a:cubicBezTo>
                    <a:pt x="97649" y="2041407"/>
                    <a:pt x="114794" y="2056647"/>
                    <a:pt x="120509" y="2083952"/>
                  </a:cubicBezTo>
                  <a:cubicBezTo>
                    <a:pt x="126224" y="2111257"/>
                    <a:pt x="120509" y="2123957"/>
                    <a:pt x="120509" y="2149992"/>
                  </a:cubicBezTo>
                  <a:cubicBezTo>
                    <a:pt x="120509" y="2176027"/>
                    <a:pt x="120509" y="2186822"/>
                    <a:pt x="120509" y="2215397"/>
                  </a:cubicBezTo>
                  <a:cubicBezTo>
                    <a:pt x="120509" y="2243972"/>
                    <a:pt x="120509" y="2264292"/>
                    <a:pt x="120509" y="2292867"/>
                  </a:cubicBezTo>
                  <a:cubicBezTo>
                    <a:pt x="120509" y="2321442"/>
                    <a:pt x="120509" y="2330967"/>
                    <a:pt x="120509" y="2358272"/>
                  </a:cubicBezTo>
                  <a:cubicBezTo>
                    <a:pt x="120509" y="2385577"/>
                    <a:pt x="106539" y="2403357"/>
                    <a:pt x="120509" y="2429392"/>
                  </a:cubicBezTo>
                  <a:cubicBezTo>
                    <a:pt x="134479" y="2455427"/>
                    <a:pt x="164324" y="2475747"/>
                    <a:pt x="191629" y="2489082"/>
                  </a:cubicBezTo>
                  <a:cubicBezTo>
                    <a:pt x="218934" y="2502417"/>
                    <a:pt x="230999" y="2492257"/>
                    <a:pt x="257034" y="2494797"/>
                  </a:cubicBezTo>
                  <a:cubicBezTo>
                    <a:pt x="283069" y="2497337"/>
                    <a:pt x="295769" y="2499877"/>
                    <a:pt x="323074" y="2501147"/>
                  </a:cubicBezTo>
                  <a:cubicBezTo>
                    <a:pt x="350379" y="2502417"/>
                    <a:pt x="365619" y="2501147"/>
                    <a:pt x="394194" y="2501147"/>
                  </a:cubicBezTo>
                  <a:cubicBezTo>
                    <a:pt x="422769" y="2501147"/>
                    <a:pt x="438644" y="2501147"/>
                    <a:pt x="465949" y="2501147"/>
                  </a:cubicBezTo>
                  <a:cubicBezTo>
                    <a:pt x="493254" y="2501147"/>
                    <a:pt x="502779" y="2501147"/>
                    <a:pt x="531354" y="2501147"/>
                  </a:cubicBezTo>
                  <a:cubicBezTo>
                    <a:pt x="559929" y="2501147"/>
                    <a:pt x="580249" y="2501147"/>
                    <a:pt x="608824" y="2501147"/>
                  </a:cubicBezTo>
                  <a:cubicBezTo>
                    <a:pt x="637399" y="2501147"/>
                    <a:pt x="648194" y="2499877"/>
                    <a:pt x="674229" y="2501147"/>
                  </a:cubicBezTo>
                  <a:cubicBezTo>
                    <a:pt x="700264" y="2502417"/>
                    <a:pt x="713599" y="2498607"/>
                    <a:pt x="739634" y="2506862"/>
                  </a:cubicBezTo>
                  <a:cubicBezTo>
                    <a:pt x="765669" y="2515117"/>
                    <a:pt x="779004" y="2529087"/>
                    <a:pt x="805039" y="2542422"/>
                  </a:cubicBezTo>
                  <a:cubicBezTo>
                    <a:pt x="831074" y="2555757"/>
                    <a:pt x="843139" y="2558932"/>
                    <a:pt x="870444" y="2572267"/>
                  </a:cubicBezTo>
                  <a:cubicBezTo>
                    <a:pt x="897749" y="2585602"/>
                    <a:pt x="919339" y="2587507"/>
                    <a:pt x="942199" y="2607827"/>
                  </a:cubicBezTo>
                  <a:cubicBezTo>
                    <a:pt x="965059" y="2628147"/>
                    <a:pt x="972679" y="2647832"/>
                    <a:pt x="983474" y="2673867"/>
                  </a:cubicBezTo>
                  <a:cubicBezTo>
                    <a:pt x="994269" y="2699902"/>
                    <a:pt x="991729" y="2713237"/>
                    <a:pt x="995539" y="2739272"/>
                  </a:cubicBezTo>
                  <a:cubicBezTo>
                    <a:pt x="999349" y="2765307"/>
                    <a:pt x="999984" y="2778642"/>
                    <a:pt x="1001254" y="2804677"/>
                  </a:cubicBezTo>
                  <a:cubicBezTo>
                    <a:pt x="1002524" y="2830712"/>
                    <a:pt x="1001254" y="2844047"/>
                    <a:pt x="1001254" y="2870082"/>
                  </a:cubicBezTo>
                  <a:cubicBezTo>
                    <a:pt x="1001254" y="2896117"/>
                    <a:pt x="1001254" y="2909452"/>
                    <a:pt x="1001254" y="2935487"/>
                  </a:cubicBezTo>
                  <a:cubicBezTo>
                    <a:pt x="1001254" y="2961522"/>
                    <a:pt x="997444" y="2974857"/>
                    <a:pt x="1001254" y="3000892"/>
                  </a:cubicBezTo>
                  <a:cubicBezTo>
                    <a:pt x="1005064" y="3026927"/>
                    <a:pt x="1001254" y="3044707"/>
                    <a:pt x="1019034" y="3066297"/>
                  </a:cubicBezTo>
                  <a:cubicBezTo>
                    <a:pt x="1036814" y="3087887"/>
                    <a:pt x="1063484" y="3099952"/>
                    <a:pt x="1090789" y="3108207"/>
                  </a:cubicBezTo>
                  <a:cubicBezTo>
                    <a:pt x="1118094" y="3116462"/>
                    <a:pt x="1130159" y="3120272"/>
                    <a:pt x="1156194" y="3108207"/>
                  </a:cubicBezTo>
                  <a:cubicBezTo>
                    <a:pt x="1182229" y="3096142"/>
                    <a:pt x="1206994" y="3073282"/>
                    <a:pt x="1221599" y="3048517"/>
                  </a:cubicBezTo>
                  <a:cubicBezTo>
                    <a:pt x="1236204" y="3023752"/>
                    <a:pt x="1226679" y="3009147"/>
                    <a:pt x="1227949" y="2983112"/>
                  </a:cubicBezTo>
                  <a:cubicBezTo>
                    <a:pt x="1229219" y="2957077"/>
                    <a:pt x="1227949" y="2943742"/>
                    <a:pt x="1227949" y="2917707"/>
                  </a:cubicBezTo>
                  <a:cubicBezTo>
                    <a:pt x="1227949" y="2891672"/>
                    <a:pt x="1226679" y="2878337"/>
                    <a:pt x="1227949" y="2852302"/>
                  </a:cubicBezTo>
                  <a:cubicBezTo>
                    <a:pt x="1229219" y="2826267"/>
                    <a:pt x="1232394" y="2814202"/>
                    <a:pt x="1233664" y="2786897"/>
                  </a:cubicBezTo>
                  <a:cubicBezTo>
                    <a:pt x="1234934" y="2759592"/>
                    <a:pt x="1239379" y="2742447"/>
                    <a:pt x="1233664" y="2715142"/>
                  </a:cubicBezTo>
                  <a:cubicBezTo>
                    <a:pt x="1227949" y="2687837"/>
                    <a:pt x="1219059" y="2675772"/>
                    <a:pt x="1203819" y="2649737"/>
                  </a:cubicBezTo>
                  <a:cubicBezTo>
                    <a:pt x="1188579" y="2623702"/>
                    <a:pt x="1175244" y="2610367"/>
                    <a:pt x="1156194" y="2584332"/>
                  </a:cubicBezTo>
                  <a:cubicBezTo>
                    <a:pt x="1137144" y="2558297"/>
                    <a:pt x="1123809" y="2544962"/>
                    <a:pt x="1108569" y="2518927"/>
                  </a:cubicBezTo>
                  <a:cubicBezTo>
                    <a:pt x="1093329" y="2492892"/>
                    <a:pt x="1088249" y="2480827"/>
                    <a:pt x="1078724" y="2453522"/>
                  </a:cubicBezTo>
                  <a:cubicBezTo>
                    <a:pt x="1069199" y="2426217"/>
                    <a:pt x="1065389" y="2409072"/>
                    <a:pt x="1060944" y="2381767"/>
                  </a:cubicBezTo>
                  <a:cubicBezTo>
                    <a:pt x="1056499" y="2354462"/>
                    <a:pt x="1059039" y="2342397"/>
                    <a:pt x="1055229" y="2316362"/>
                  </a:cubicBezTo>
                  <a:cubicBezTo>
                    <a:pt x="1051419" y="2290327"/>
                    <a:pt x="1046974" y="2276992"/>
                    <a:pt x="1043164" y="2250957"/>
                  </a:cubicBezTo>
                  <a:cubicBezTo>
                    <a:pt x="1039354" y="2224922"/>
                    <a:pt x="1041259" y="2211587"/>
                    <a:pt x="1037449" y="2185552"/>
                  </a:cubicBezTo>
                  <a:cubicBezTo>
                    <a:pt x="1033639" y="2159517"/>
                    <a:pt x="1029194" y="2146182"/>
                    <a:pt x="1025384" y="2120147"/>
                  </a:cubicBezTo>
                  <a:cubicBezTo>
                    <a:pt x="1021574" y="2094112"/>
                    <a:pt x="1020304" y="2080777"/>
                    <a:pt x="1019034" y="2054742"/>
                  </a:cubicBezTo>
                  <a:cubicBezTo>
                    <a:pt x="1017764" y="2028707"/>
                    <a:pt x="1020304" y="2014737"/>
                    <a:pt x="1019034" y="1988702"/>
                  </a:cubicBezTo>
                  <a:cubicBezTo>
                    <a:pt x="1017764" y="1962667"/>
                    <a:pt x="1014589" y="1949332"/>
                    <a:pt x="1013319" y="1923297"/>
                  </a:cubicBezTo>
                  <a:cubicBezTo>
                    <a:pt x="1012049" y="1897262"/>
                    <a:pt x="1015859" y="1885197"/>
                    <a:pt x="1013319" y="1857892"/>
                  </a:cubicBezTo>
                  <a:cubicBezTo>
                    <a:pt x="1010779" y="1830587"/>
                    <a:pt x="1003794" y="1814077"/>
                    <a:pt x="1001254" y="1786772"/>
                  </a:cubicBezTo>
                  <a:cubicBezTo>
                    <a:pt x="998714" y="1759467"/>
                    <a:pt x="1003794" y="1748672"/>
                    <a:pt x="1001254" y="1721367"/>
                  </a:cubicBezTo>
                  <a:cubicBezTo>
                    <a:pt x="998714" y="1694062"/>
                    <a:pt x="993634" y="1676917"/>
                    <a:pt x="989824" y="1649612"/>
                  </a:cubicBezTo>
                  <a:cubicBezTo>
                    <a:pt x="986014" y="1622307"/>
                    <a:pt x="986014" y="1610242"/>
                    <a:pt x="983474" y="1584207"/>
                  </a:cubicBezTo>
                  <a:cubicBezTo>
                    <a:pt x="980934" y="1558172"/>
                    <a:pt x="981569" y="1547377"/>
                    <a:pt x="977759" y="1518802"/>
                  </a:cubicBezTo>
                  <a:cubicBezTo>
                    <a:pt x="973949" y="1490227"/>
                    <a:pt x="968234" y="1469907"/>
                    <a:pt x="965694" y="1441332"/>
                  </a:cubicBezTo>
                  <a:cubicBezTo>
                    <a:pt x="963154" y="1412757"/>
                    <a:pt x="969504" y="1403232"/>
                    <a:pt x="965694" y="1375927"/>
                  </a:cubicBezTo>
                  <a:cubicBezTo>
                    <a:pt x="961884" y="1348622"/>
                    <a:pt x="952359" y="1332747"/>
                    <a:pt x="947914" y="1304172"/>
                  </a:cubicBezTo>
                  <a:cubicBezTo>
                    <a:pt x="943469" y="1275597"/>
                    <a:pt x="949184" y="1260357"/>
                    <a:pt x="942199" y="1233052"/>
                  </a:cubicBezTo>
                  <a:cubicBezTo>
                    <a:pt x="935214" y="1205747"/>
                    <a:pt x="932674" y="1187967"/>
                    <a:pt x="912354" y="1167647"/>
                  </a:cubicBezTo>
                  <a:cubicBezTo>
                    <a:pt x="892034" y="1147327"/>
                    <a:pt x="867904" y="1143517"/>
                    <a:pt x="840599" y="1131452"/>
                  </a:cubicBezTo>
                  <a:cubicBezTo>
                    <a:pt x="813294" y="1119387"/>
                    <a:pt x="801229" y="1118752"/>
                    <a:pt x="775194" y="1107957"/>
                  </a:cubicBezTo>
                  <a:cubicBezTo>
                    <a:pt x="749159" y="1097162"/>
                    <a:pt x="728839" y="1097162"/>
                    <a:pt x="709789" y="1078112"/>
                  </a:cubicBezTo>
                  <a:cubicBezTo>
                    <a:pt x="690739" y="1059062"/>
                    <a:pt x="690739" y="1038742"/>
                    <a:pt x="679944" y="1012707"/>
                  </a:cubicBezTo>
                  <a:cubicBezTo>
                    <a:pt x="669149" y="986672"/>
                    <a:pt x="665974" y="974607"/>
                    <a:pt x="656449" y="947302"/>
                  </a:cubicBezTo>
                  <a:cubicBezTo>
                    <a:pt x="646924" y="919997"/>
                    <a:pt x="640574" y="902852"/>
                    <a:pt x="632319" y="875547"/>
                  </a:cubicBezTo>
                  <a:cubicBezTo>
                    <a:pt x="624064" y="848242"/>
                    <a:pt x="620254" y="837447"/>
                    <a:pt x="614539" y="810142"/>
                  </a:cubicBezTo>
                  <a:cubicBezTo>
                    <a:pt x="608824" y="782837"/>
                    <a:pt x="605014" y="766327"/>
                    <a:pt x="602474" y="739022"/>
                  </a:cubicBezTo>
                  <a:cubicBezTo>
                    <a:pt x="599934" y="711717"/>
                    <a:pt x="603744" y="703462"/>
                    <a:pt x="602474" y="673617"/>
                  </a:cubicBezTo>
                  <a:cubicBezTo>
                    <a:pt x="601204" y="643772"/>
                    <a:pt x="600569" y="622182"/>
                    <a:pt x="596759" y="589797"/>
                  </a:cubicBezTo>
                  <a:cubicBezTo>
                    <a:pt x="592949" y="557412"/>
                    <a:pt x="587234" y="540902"/>
                    <a:pt x="584694" y="512327"/>
                  </a:cubicBezTo>
                  <a:cubicBezTo>
                    <a:pt x="582154" y="483752"/>
                    <a:pt x="587234" y="472957"/>
                    <a:pt x="584694" y="446922"/>
                  </a:cubicBezTo>
                  <a:cubicBezTo>
                    <a:pt x="582154" y="420887"/>
                    <a:pt x="584694" y="408822"/>
                    <a:pt x="572629" y="381517"/>
                  </a:cubicBezTo>
                  <a:cubicBezTo>
                    <a:pt x="560564" y="354212"/>
                    <a:pt x="541514" y="340242"/>
                    <a:pt x="525004" y="310397"/>
                  </a:cubicBezTo>
                  <a:cubicBezTo>
                    <a:pt x="508494" y="280552"/>
                    <a:pt x="500239" y="262772"/>
                    <a:pt x="489444" y="232927"/>
                  </a:cubicBezTo>
                  <a:cubicBezTo>
                    <a:pt x="478649" y="203082"/>
                    <a:pt x="482459" y="188477"/>
                    <a:pt x="471664" y="161172"/>
                  </a:cubicBezTo>
                  <a:cubicBezTo>
                    <a:pt x="460869" y="133867"/>
                    <a:pt x="457694" y="114817"/>
                    <a:pt x="436104" y="95767"/>
                  </a:cubicBezTo>
                  <a:cubicBezTo>
                    <a:pt x="414514" y="76717"/>
                    <a:pt x="383399" y="70367"/>
                    <a:pt x="364349" y="65922"/>
                  </a:cubicBezTo>
                  <a:cubicBezTo>
                    <a:pt x="345299" y="61477"/>
                    <a:pt x="359904" y="80527"/>
                    <a:pt x="340854" y="72272"/>
                  </a:cubicBezTo>
                  <a:close/>
                </a:path>
              </a:pathLst>
            </a:custGeom>
            <a:noFill/>
            <a:ln w="25400"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10824" y="5454"/>
              <a:ext cx="284" cy="1078"/>
            </a:xfrm>
            <a:custGeom>
              <a:avLst/>
              <a:gdLst>
                <a:gd name="connisteX0" fmla="*/ 94544 w 357857"/>
                <a:gd name="connsiteY0" fmla="*/ 29222 h 684381"/>
                <a:gd name="connisteX1" fmla="*/ 51999 w 357857"/>
                <a:gd name="connsiteY1" fmla="*/ 113677 h 684381"/>
                <a:gd name="connisteX2" fmla="*/ 17074 w 357857"/>
                <a:gd name="connsiteY2" fmla="*/ 183527 h 684381"/>
                <a:gd name="connisteX3" fmla="*/ 3104 w 357857"/>
                <a:gd name="connsiteY3" fmla="*/ 267982 h 684381"/>
                <a:gd name="connisteX4" fmla="*/ 3104 w 357857"/>
                <a:gd name="connsiteY4" fmla="*/ 344817 h 684381"/>
                <a:gd name="connisteX5" fmla="*/ 3104 w 357857"/>
                <a:gd name="connsiteY5" fmla="*/ 415302 h 684381"/>
                <a:gd name="connisteX6" fmla="*/ 3104 w 357857"/>
                <a:gd name="connsiteY6" fmla="*/ 485152 h 684381"/>
                <a:gd name="connisteX7" fmla="*/ 38029 w 357857"/>
                <a:gd name="connsiteY7" fmla="*/ 555637 h 684381"/>
                <a:gd name="connisteX8" fmla="*/ 87559 w 357857"/>
                <a:gd name="connsiteY8" fmla="*/ 625487 h 684381"/>
                <a:gd name="connisteX9" fmla="*/ 157409 w 357857"/>
                <a:gd name="connsiteY9" fmla="*/ 668032 h 684381"/>
                <a:gd name="connisteX10" fmla="*/ 234879 w 357857"/>
                <a:gd name="connsiteY10" fmla="*/ 682002 h 684381"/>
                <a:gd name="connisteX11" fmla="*/ 304729 w 357857"/>
                <a:gd name="connsiteY11" fmla="*/ 632472 h 684381"/>
                <a:gd name="connisteX12" fmla="*/ 353624 w 357857"/>
                <a:gd name="connsiteY12" fmla="*/ 562622 h 684381"/>
                <a:gd name="connisteX13" fmla="*/ 353624 w 357857"/>
                <a:gd name="connsiteY13" fmla="*/ 492137 h 684381"/>
                <a:gd name="connisteX14" fmla="*/ 353624 w 357857"/>
                <a:gd name="connsiteY14" fmla="*/ 422287 h 684381"/>
                <a:gd name="connisteX15" fmla="*/ 353624 w 357857"/>
                <a:gd name="connsiteY15" fmla="*/ 352437 h 684381"/>
                <a:gd name="connisteX16" fmla="*/ 353624 w 357857"/>
                <a:gd name="connsiteY16" fmla="*/ 274967 h 684381"/>
                <a:gd name="connisteX17" fmla="*/ 346639 w 357857"/>
                <a:gd name="connsiteY17" fmla="*/ 205117 h 684381"/>
                <a:gd name="connisteX18" fmla="*/ 325684 w 357857"/>
                <a:gd name="connsiteY18" fmla="*/ 134632 h 684381"/>
                <a:gd name="connisteX19" fmla="*/ 276789 w 357857"/>
                <a:gd name="connsiteY19" fmla="*/ 64782 h 684381"/>
                <a:gd name="connisteX20" fmla="*/ 199319 w 357857"/>
                <a:gd name="connsiteY20" fmla="*/ 8267 h 684381"/>
                <a:gd name="connisteX21" fmla="*/ 129469 w 357857"/>
                <a:gd name="connsiteY21" fmla="*/ 1282 h 684381"/>
                <a:gd name="connisteX22" fmla="*/ 58984 w 357857"/>
                <a:gd name="connsiteY22" fmla="*/ 8267 h 68438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</a:cxnLst>
              <a:rect l="l" t="t" r="r" b="b"/>
              <a:pathLst>
                <a:path w="357858" h="684381">
                  <a:moveTo>
                    <a:pt x="94544" y="29222"/>
                  </a:moveTo>
                  <a:cubicBezTo>
                    <a:pt x="86924" y="44462"/>
                    <a:pt x="67239" y="82562"/>
                    <a:pt x="51999" y="113677"/>
                  </a:cubicBezTo>
                  <a:cubicBezTo>
                    <a:pt x="36759" y="144792"/>
                    <a:pt x="26599" y="152412"/>
                    <a:pt x="17074" y="183527"/>
                  </a:cubicBezTo>
                  <a:cubicBezTo>
                    <a:pt x="7549" y="214642"/>
                    <a:pt x="5644" y="235597"/>
                    <a:pt x="3104" y="267982"/>
                  </a:cubicBezTo>
                  <a:cubicBezTo>
                    <a:pt x="564" y="300367"/>
                    <a:pt x="3104" y="315607"/>
                    <a:pt x="3104" y="344817"/>
                  </a:cubicBezTo>
                  <a:cubicBezTo>
                    <a:pt x="3104" y="374027"/>
                    <a:pt x="3104" y="387362"/>
                    <a:pt x="3104" y="415302"/>
                  </a:cubicBezTo>
                  <a:cubicBezTo>
                    <a:pt x="3104" y="443242"/>
                    <a:pt x="-3881" y="457212"/>
                    <a:pt x="3104" y="485152"/>
                  </a:cubicBezTo>
                  <a:cubicBezTo>
                    <a:pt x="10089" y="513092"/>
                    <a:pt x="20884" y="527697"/>
                    <a:pt x="38029" y="555637"/>
                  </a:cubicBezTo>
                  <a:cubicBezTo>
                    <a:pt x="55174" y="583577"/>
                    <a:pt x="63429" y="603262"/>
                    <a:pt x="87559" y="625487"/>
                  </a:cubicBezTo>
                  <a:cubicBezTo>
                    <a:pt x="111689" y="647712"/>
                    <a:pt x="128199" y="656602"/>
                    <a:pt x="157409" y="668032"/>
                  </a:cubicBezTo>
                  <a:cubicBezTo>
                    <a:pt x="186619" y="679462"/>
                    <a:pt x="205669" y="688987"/>
                    <a:pt x="234879" y="682002"/>
                  </a:cubicBezTo>
                  <a:cubicBezTo>
                    <a:pt x="264089" y="675017"/>
                    <a:pt x="281234" y="656602"/>
                    <a:pt x="304729" y="632472"/>
                  </a:cubicBezTo>
                  <a:cubicBezTo>
                    <a:pt x="328224" y="608342"/>
                    <a:pt x="344099" y="590562"/>
                    <a:pt x="353624" y="562622"/>
                  </a:cubicBezTo>
                  <a:cubicBezTo>
                    <a:pt x="363149" y="534682"/>
                    <a:pt x="353624" y="520077"/>
                    <a:pt x="353624" y="492137"/>
                  </a:cubicBezTo>
                  <a:cubicBezTo>
                    <a:pt x="353624" y="464197"/>
                    <a:pt x="353624" y="450227"/>
                    <a:pt x="353624" y="422287"/>
                  </a:cubicBezTo>
                  <a:cubicBezTo>
                    <a:pt x="353624" y="394347"/>
                    <a:pt x="353624" y="381647"/>
                    <a:pt x="353624" y="352437"/>
                  </a:cubicBezTo>
                  <a:cubicBezTo>
                    <a:pt x="353624" y="323227"/>
                    <a:pt x="354894" y="304177"/>
                    <a:pt x="353624" y="274967"/>
                  </a:cubicBezTo>
                  <a:cubicBezTo>
                    <a:pt x="352354" y="245757"/>
                    <a:pt x="352354" y="233057"/>
                    <a:pt x="346639" y="205117"/>
                  </a:cubicBezTo>
                  <a:cubicBezTo>
                    <a:pt x="340924" y="177177"/>
                    <a:pt x="339654" y="162572"/>
                    <a:pt x="325684" y="134632"/>
                  </a:cubicBezTo>
                  <a:cubicBezTo>
                    <a:pt x="311714" y="106692"/>
                    <a:pt x="302189" y="90182"/>
                    <a:pt x="276789" y="64782"/>
                  </a:cubicBezTo>
                  <a:cubicBezTo>
                    <a:pt x="251389" y="39382"/>
                    <a:pt x="228529" y="20967"/>
                    <a:pt x="199319" y="8267"/>
                  </a:cubicBezTo>
                  <a:cubicBezTo>
                    <a:pt x="170109" y="-4433"/>
                    <a:pt x="157409" y="1282"/>
                    <a:pt x="129469" y="1282"/>
                  </a:cubicBezTo>
                  <a:cubicBezTo>
                    <a:pt x="101529" y="1282"/>
                    <a:pt x="71684" y="6997"/>
                    <a:pt x="58984" y="826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 flipH="1">
              <a:off x="10930" y="4086"/>
              <a:ext cx="713" cy="132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48"/>
            <p:cNvSpPr txBox="1"/>
            <p:nvPr/>
          </p:nvSpPr>
          <p:spPr>
            <a:xfrm>
              <a:off x="11164" y="3716"/>
              <a:ext cx="291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/>
                <a:t>subBackward</a:t>
              </a:r>
              <a:endParaRPr lang="en-US" sz="10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WPS Presentation</Application>
  <PresentationFormat>宽屏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Nimbus Roman No9 L</vt:lpstr>
      <vt:lpstr>Arial Black</vt:lpstr>
      <vt:lpstr>Microsoft YaHei</vt:lpstr>
      <vt:lpstr>文泉驿微米黑</vt:lpstr>
      <vt:lpstr>Arial Unicode MS</vt:lpstr>
      <vt:lpstr>SimSun</vt:lpstr>
      <vt:lpstr>SimSun</vt:lpstr>
      <vt:lpstr>OpenSymbol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roark</cp:lastModifiedBy>
  <cp:revision>19</cp:revision>
  <dcterms:created xsi:type="dcterms:W3CDTF">2025-11-23T09:50:37Z</dcterms:created>
  <dcterms:modified xsi:type="dcterms:W3CDTF">2025-11-23T09:50:37Z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1033-11.1.0.11720</vt:lpwstr>
  </property>
  <property fmtid="{D5CDD505-2E9C-101B-9397-08002B2CF9AE}" pid="3" name="ICV">
    <vt:lpwstr/>
  </property>
</Properties>
</file>